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presentation, about 15 minutes. Suggested split: Samuel slides 1 to 5, Adebukola slides 6 to 10, Sandeep slides 11 to 15. Open with the question we set out to answer: should Apple acquire Netflix, and what are the risks if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deck. We work the full enterprise risk cycle: identify, qualify, quantify, respond. Three competitive risks carry the analysis, two High and one 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Netflix brings about 301 million subscribers and a global content engine. Apple brings cash, devices, and a bundle. The prize is scale, but the size of the deal is exactly what creates the regulatory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surfaced risks with PESTEL, Porter, and a risk breakdown structure, organized them in this SWOT, then narrowed to the three competitive risks that define the deal. The threats and weaknesses are where R1, R2, and R3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Likelihood times impact gives the score. R1 at 63 and R2 at 56 land in the High band, R3 at 40 in Medium. The heatmap makes the ranking visible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course methods carried the qualitative work. Scenario Analytics stress tested each risk across three futures. Industry Fusion triangulated each risk across many signals. The conclusion: all three need quantitative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quantitative engine has four parts. Distributions give expected loss and tail. The ML model predicts churn from the KRIs. Monte Carlo shows the spread. The integrated assessment wires the business and non business environment into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 is the heaviest exposure. The Monte Carlo gives an expected loss near 12.8 billion and a P95 tail near 40.9 billion, driven by the block scenario. This risk cannot be transferred, which shapes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has two parts. The machine learning model reaches an honest AUC of 0.71, and the drivers it relies on are exactly our KRIs, which validates them. The Monte Carlo on churn puts first year revenue at risk near 1.9 billion, with a P95 near 4.4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R3 uses a FAIR model. Expected annual loss is moderate near 200 million, but the tail is heavy, with a P99 near 1.4 billion. The controls we track as KRIs, MFA and patching, are what hold the frequency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R1 dominates the exposure. R2 is material. R3 is smaller but tail heavy. Expected loss sets priority, and the tail sizes the reserves. This is the ranking management should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response fits the risk. R1 is mitigate and accept, since it cannot be insured. R2 is mitigate plus a positive exploit of the Apple base. R3 is mitigate, transfer through cyber insurance, and accept the small residual.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risk has a Green, Amber, Red panel. These are the headline indicators and their red triggers. Leading indicators warn before the risk hits, lagging ones confirm. Red pulls the response strategy off the shelf.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recommendation. The deal is viable, but the regulatory path governs it. Prepare remedies and a reserve for R1, protect subscribers for R2, and harden and insure for R3. Then hand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for questions. Keep the notebooks and the report handy for any drill down on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5"/>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0E9AA7">
              <a:alpha val="18000"/>
            </a:srgbClr>
          </a:solidFill>
          <a:ln/>
        </p:spPr>
      </p:sp>
      <p:sp>
        <p:nvSpPr>
          <p:cNvPr id="3" name="Shape 1"/>
          <p:cNvSpPr/>
          <p:nvPr/>
        </p:nvSpPr>
        <p:spPr>
          <a:xfrm>
            <a:off x="10881360" y="4114800"/>
            <a:ext cx="2926080" cy="2926080"/>
          </a:xfrm>
          <a:prstGeom prst="ellipse">
            <a:avLst/>
          </a:prstGeom>
          <a:solidFill>
            <a:srgbClr val="D99A2B">
              <a:alpha val="14000"/>
            </a:srgbClr>
          </a:solidFill>
          <a:ln/>
        </p:spPr>
      </p:sp>
      <p:sp>
        <p:nvSpPr>
          <p:cNvPr id="4" name="Text 2"/>
          <p:cNvSpPr/>
          <p:nvPr/>
        </p:nvSpPr>
        <p:spPr>
          <a:xfrm>
            <a:off x="731520" y="1371600"/>
            <a:ext cx="10424160" cy="365760"/>
          </a:xfrm>
          <a:prstGeom prst="rect">
            <a:avLst/>
          </a:prstGeom>
          <a:noFill/>
          <a:ln/>
        </p:spPr>
        <p:txBody>
          <a:bodyPr wrap="square" lIns="0" tIns="0" rIns="0" bIns="0" rtlCol="0" anchor="ctr"/>
          <a:lstStyle/>
          <a:p>
            <a:pPr indent="0" marL="0">
              <a:buNone/>
            </a:pPr>
            <a:r>
              <a:rPr lang="en-US" sz="1300" b="1" spc="200" kern="0" dirty="0">
                <a:solidFill>
                  <a:srgbClr val="0E9AA7"/>
                </a:solidFill>
                <a:latin typeface="Arial" pitchFamily="34" charset="0"/>
                <a:ea typeface="Arial" pitchFamily="34" charset="-122"/>
                <a:cs typeface="Arial" pitchFamily="34" charset="-120"/>
              </a:rPr>
              <a:t>ALY 6130  .  ENTERPRISE RISK MANAGEMENT  .  SIGNATURE ASSESSMENT</a:t>
            </a:r>
            <a:endParaRPr lang="en-US" sz="1300" dirty="0"/>
          </a:p>
        </p:txBody>
      </p:sp>
      <p:sp>
        <p:nvSpPr>
          <p:cNvPr id="5" name="Text 3"/>
          <p:cNvSpPr/>
          <p:nvPr/>
        </p:nvSpPr>
        <p:spPr>
          <a:xfrm>
            <a:off x="731520" y="1965960"/>
            <a:ext cx="10698480" cy="13716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Enterprise Risk Assessment of Apple’s Acquisition of Netflix</a:t>
            </a:r>
            <a:endParaRPr lang="en-US" sz="4000" dirty="0"/>
          </a:p>
        </p:txBody>
      </p:sp>
      <p:sp>
        <p:nvSpPr>
          <p:cNvPr id="6" name="Text 4"/>
          <p:cNvSpPr/>
          <p:nvPr/>
        </p:nvSpPr>
        <p:spPr>
          <a:xfrm>
            <a:off x="731520" y="3611880"/>
            <a:ext cx="10424160" cy="457200"/>
          </a:xfrm>
          <a:prstGeom prst="rect">
            <a:avLst/>
          </a:prstGeom>
          <a:noFill/>
          <a:ln/>
        </p:spPr>
        <p:txBody>
          <a:bodyPr wrap="square" lIns="0" tIns="0" rIns="0" bIns="0" rtlCol="0" anchor="ctr"/>
          <a:lstStyle/>
          <a:p>
            <a:pPr indent="0" marL="0">
              <a:buNone/>
            </a:pPr>
            <a:r>
              <a:rPr lang="en-US" sz="1900" dirty="0">
                <a:solidFill>
                  <a:srgbClr val="CADCFC"/>
                </a:solidFill>
                <a:latin typeface="Arial" pitchFamily="34" charset="0"/>
                <a:ea typeface="Arial" pitchFamily="34" charset="-122"/>
                <a:cs typeface="Arial" pitchFamily="34" charset="-120"/>
              </a:rPr>
              <a:t>A Competitive Intelligence and Quantitative Risk Analytics Approach</a:t>
            </a:r>
            <a:endParaRPr lang="en-US" sz="1900" dirty="0"/>
          </a:p>
        </p:txBody>
      </p:sp>
      <p:sp>
        <p:nvSpPr>
          <p:cNvPr id="7" name="Text 5"/>
          <p:cNvSpPr/>
          <p:nvPr/>
        </p:nvSpPr>
        <p:spPr>
          <a:xfrm>
            <a:off x="731520" y="4754880"/>
            <a:ext cx="106984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Samuel Tweneboah-Kodua Nyamekye      Adebukola Fadina      Sandeep Kaur</a:t>
            </a:r>
            <a:endParaRPr lang="en-US" sz="1600" dirty="0"/>
          </a:p>
        </p:txBody>
      </p:sp>
      <p:sp>
        <p:nvSpPr>
          <p:cNvPr id="8" name="Text 6"/>
          <p:cNvSpPr/>
          <p:nvPr/>
        </p:nvSpPr>
        <p:spPr>
          <a:xfrm>
            <a:off x="731520" y="5230368"/>
            <a:ext cx="10698480" cy="365760"/>
          </a:xfrm>
          <a:prstGeom prst="rect">
            <a:avLst/>
          </a:prstGeom>
          <a:noFill/>
          <a:ln/>
        </p:spPr>
        <p:txBody>
          <a:bodyPr wrap="square" lIns="0" tIns="0" rIns="0" bIns="0" rtlCol="0" anchor="ctr"/>
          <a:lstStyle/>
          <a:p>
            <a:pPr indent="0" marL="0">
              <a:buNone/>
            </a:pPr>
            <a:r>
              <a:rPr lang="en-US" sz="1250" dirty="0">
                <a:solidFill>
                  <a:srgbClr val="9DB4CC"/>
                </a:solidFill>
                <a:latin typeface="Arial" pitchFamily="34" charset="0"/>
                <a:ea typeface="Arial" pitchFamily="34" charset="-122"/>
                <a:cs typeface="Arial" pitchFamily="34" charset="-120"/>
              </a:rPr>
              <a:t>College of Professional Studies, Northeastern University   .   Spring 2026   .   Instructor: [Insert instructor name]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OVERVIEW</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What this assessment covers</a:t>
            </a:r>
            <a:endParaRPr lang="en-US" sz="2800" dirty="0"/>
          </a:p>
        </p:txBody>
      </p:sp>
      <p:sp>
        <p:nvSpPr>
          <p:cNvPr id="4" name="Shape 2"/>
          <p:cNvSpPr/>
          <p:nvPr/>
        </p:nvSpPr>
        <p:spPr>
          <a:xfrm>
            <a:off x="548640" y="1691640"/>
            <a:ext cx="5349240" cy="4297680"/>
          </a:xfrm>
          <a:prstGeom prst="roundRect">
            <a:avLst>
              <a:gd name="adj" fmla="val 1915"/>
            </a:avLst>
          </a:prstGeom>
          <a:solidFill>
            <a:srgbClr val="EFF4F9"/>
          </a:solidFill>
          <a:ln/>
          <a:effectLst>
            <a:outerShdw sx="100000" sy="100000" kx="0" ky="0" algn="bl" rotWithShape="0" blurRad="101600" dist="38100" dir="5400000">
              <a:srgbClr val="000000">
                <a:alpha val="10000"/>
              </a:srgbClr>
            </a:outerShdw>
          </a:effectLst>
        </p:spPr>
      </p:sp>
      <p:sp>
        <p:nvSpPr>
          <p:cNvPr id="5" name="Text 3"/>
          <p:cNvSpPr/>
          <p:nvPr/>
        </p:nvSpPr>
        <p:spPr>
          <a:xfrm>
            <a:off x="868680" y="1920240"/>
            <a:ext cx="4572000" cy="411480"/>
          </a:xfrm>
          <a:prstGeom prst="rect">
            <a:avLst/>
          </a:prstGeom>
          <a:noFill/>
          <a:ln/>
        </p:spPr>
        <p:txBody>
          <a:bodyPr wrap="square" lIns="0" tIns="0" rIns="0" bIns="0" rtlCol="0" anchor="ctr"/>
          <a:lstStyle/>
          <a:p>
            <a:pPr indent="0" marL="0">
              <a:buNone/>
            </a:pPr>
            <a:r>
              <a:rPr lang="en-US" sz="1800" b="1" dirty="0">
                <a:solidFill>
                  <a:srgbClr val="1F4E78"/>
                </a:solidFill>
                <a:latin typeface="Arial" pitchFamily="34" charset="0"/>
                <a:ea typeface="Arial" pitchFamily="34" charset="-122"/>
                <a:cs typeface="Arial" pitchFamily="34" charset="-120"/>
              </a:rPr>
              <a:t>Our approach</a:t>
            </a:r>
            <a:endParaRPr lang="en-US" sz="1800" dirty="0"/>
          </a:p>
        </p:txBody>
      </p:sp>
      <p:sp>
        <p:nvSpPr>
          <p:cNvPr id="6" name="Text 4"/>
          <p:cNvSpPr/>
          <p:nvPr/>
        </p:nvSpPr>
        <p:spPr>
          <a:xfrm>
            <a:off x="868680" y="2468880"/>
            <a:ext cx="4754880" cy="3291840"/>
          </a:xfrm>
          <a:prstGeom prst="rect">
            <a:avLst/>
          </a:prstGeom>
          <a:noFill/>
          <a:ln/>
        </p:spPr>
        <p:txBody>
          <a:bodyPr wrap="square" rtlCol="0" anchor="t"/>
          <a:lstStyle/>
          <a:p>
            <a:pPr marL="177800" indent="-177800">
              <a:lnSpc>
                <a:spcPct val="104000"/>
              </a:lnSpc>
              <a:spcAft>
                <a:spcPts val="700"/>
              </a:spcAft>
              <a:buSzPct val="100000"/>
              <a:buChar char="•"/>
            </a:pPr>
            <a:r>
              <a:rPr lang="en-US" sz="1500" dirty="0">
                <a:solidFill>
                  <a:srgbClr val="1B2A38"/>
                </a:solidFill>
                <a:latin typeface="Arial" pitchFamily="34" charset="0"/>
                <a:ea typeface="Arial" pitchFamily="34" charset="-122"/>
                <a:cs typeface="Arial" pitchFamily="34" charset="-120"/>
              </a:rPr>
              <a:t>Identify the risks of the acquisition</a:t>
            </a:r>
            <a:endParaRPr lang="en-US" sz="1500" dirty="0"/>
          </a:p>
          <a:p>
            <a:pPr marL="177800" indent="-177800">
              <a:lnSpc>
                <a:spcPct val="104000"/>
              </a:lnSpc>
              <a:spcAft>
                <a:spcPts val="700"/>
              </a:spcAft>
              <a:buSzPct val="100000"/>
              <a:buChar char="•"/>
            </a:pPr>
            <a:r>
              <a:rPr lang="en-US" sz="1500" dirty="0">
                <a:solidFill>
                  <a:srgbClr val="1B2A38"/>
                </a:solidFill>
                <a:latin typeface="Arial" pitchFamily="34" charset="0"/>
                <a:ea typeface="Arial" pitchFamily="34" charset="-122"/>
                <a:cs typeface="Arial" pitchFamily="34" charset="-120"/>
              </a:rPr>
              <a:t>Assess them qualitatively on a 1 to 9 scale</a:t>
            </a:r>
            <a:endParaRPr lang="en-US" sz="1500" dirty="0"/>
          </a:p>
          <a:p>
            <a:pPr marL="177800" indent="-177800">
              <a:lnSpc>
                <a:spcPct val="104000"/>
              </a:lnSpc>
              <a:spcAft>
                <a:spcPts val="700"/>
              </a:spcAft>
              <a:buSzPct val="100000"/>
              <a:buChar char="•"/>
            </a:pPr>
            <a:r>
              <a:rPr lang="en-US" sz="1500" dirty="0">
                <a:solidFill>
                  <a:srgbClr val="1B2A38"/>
                </a:solidFill>
                <a:latin typeface="Arial" pitchFamily="34" charset="0"/>
                <a:ea typeface="Arial" pitchFamily="34" charset="-122"/>
                <a:cs typeface="Arial" pitchFamily="34" charset="-120"/>
              </a:rPr>
              <a:t>Model the biggest ones quantitatively</a:t>
            </a:r>
            <a:endParaRPr lang="en-US" sz="1500" dirty="0"/>
          </a:p>
          <a:p>
            <a:pPr marL="177800" indent="-177800">
              <a:lnSpc>
                <a:spcPct val="104000"/>
              </a:lnSpc>
              <a:spcAft>
                <a:spcPts val="700"/>
              </a:spcAft>
              <a:buSzPct val="100000"/>
              <a:buChar char="•"/>
            </a:pPr>
            <a:r>
              <a:rPr lang="en-US" sz="1500" dirty="0">
                <a:solidFill>
                  <a:srgbClr val="1B2A38"/>
                </a:solidFill>
                <a:latin typeface="Arial" pitchFamily="34" charset="0"/>
                <a:ea typeface="Arial" pitchFamily="34" charset="-122"/>
                <a:cs typeface="Arial" pitchFamily="34" charset="-120"/>
              </a:rPr>
              <a:t>Recommend responses and the indicators to watch</a:t>
            </a:r>
            <a:endParaRPr lang="en-US" sz="1500" dirty="0"/>
          </a:p>
        </p:txBody>
      </p:sp>
      <p:sp>
        <p:nvSpPr>
          <p:cNvPr id="7" name="Shape 5"/>
          <p:cNvSpPr/>
          <p:nvPr/>
        </p:nvSpPr>
        <p:spPr>
          <a:xfrm>
            <a:off x="6309360" y="1691640"/>
            <a:ext cx="5330952" cy="4297680"/>
          </a:xfrm>
          <a:prstGeom prst="roundRect">
            <a:avLst>
              <a:gd name="adj" fmla="val 1915"/>
            </a:avLst>
          </a:prstGeom>
          <a:solidFill>
            <a:srgbClr val="EFF4F9"/>
          </a:solidFill>
          <a:ln/>
          <a:effectLst>
            <a:outerShdw sx="100000" sy="100000" kx="0" ky="0" algn="bl" rotWithShape="0" blurRad="101600" dist="38100" dir="5400000">
              <a:srgbClr val="000000">
                <a:alpha val="10000"/>
              </a:srgbClr>
            </a:outerShdw>
          </a:effectLst>
        </p:spPr>
      </p:sp>
      <p:sp>
        <p:nvSpPr>
          <p:cNvPr id="8" name="Text 6"/>
          <p:cNvSpPr/>
          <p:nvPr/>
        </p:nvSpPr>
        <p:spPr>
          <a:xfrm>
            <a:off x="6629400" y="1920240"/>
            <a:ext cx="4572000" cy="411480"/>
          </a:xfrm>
          <a:prstGeom prst="rect">
            <a:avLst/>
          </a:prstGeom>
          <a:noFill/>
          <a:ln/>
        </p:spPr>
        <p:txBody>
          <a:bodyPr wrap="square" lIns="0" tIns="0" rIns="0" bIns="0" rtlCol="0" anchor="ctr"/>
          <a:lstStyle/>
          <a:p>
            <a:pPr indent="0" marL="0">
              <a:buNone/>
            </a:pPr>
            <a:r>
              <a:rPr lang="en-US" sz="1800" b="1" dirty="0">
                <a:solidFill>
                  <a:srgbClr val="1F4E78"/>
                </a:solidFill>
                <a:latin typeface="Arial" pitchFamily="34" charset="0"/>
                <a:ea typeface="Arial" pitchFamily="34" charset="-122"/>
                <a:cs typeface="Arial" pitchFamily="34" charset="-120"/>
              </a:rPr>
              <a:t>The three competitive risks</a:t>
            </a:r>
            <a:endParaRPr lang="en-US" sz="1800" dirty="0"/>
          </a:p>
        </p:txBody>
      </p:sp>
      <p:sp>
        <p:nvSpPr>
          <p:cNvPr id="9" name="Shape 7"/>
          <p:cNvSpPr/>
          <p:nvPr/>
        </p:nvSpPr>
        <p:spPr>
          <a:xfrm>
            <a:off x="6629400" y="2514600"/>
            <a:ext cx="4690872" cy="914400"/>
          </a:xfrm>
          <a:prstGeom prst="roundRect">
            <a:avLst>
              <a:gd name="adj" fmla="val 9000"/>
            </a:avLst>
          </a:prstGeom>
          <a:solidFill>
            <a:srgbClr val="F7E4E2"/>
          </a:solidFill>
          <a:ln/>
          <a:effectLst>
            <a:outerShdw sx="100000" sy="100000" kx="0" ky="0" algn="bl" rotWithShape="0" blurRad="101600" dist="38100" dir="5400000">
              <a:srgbClr val="000000">
                <a:alpha val="10000"/>
              </a:srgbClr>
            </a:outerShdw>
          </a:effectLst>
        </p:spPr>
      </p:sp>
      <p:sp>
        <p:nvSpPr>
          <p:cNvPr id="10" name="Text 8"/>
          <p:cNvSpPr/>
          <p:nvPr/>
        </p:nvSpPr>
        <p:spPr>
          <a:xfrm>
            <a:off x="6766560" y="2514600"/>
            <a:ext cx="640080" cy="914400"/>
          </a:xfrm>
          <a:prstGeom prst="rect">
            <a:avLst/>
          </a:prstGeom>
          <a:noFill/>
          <a:ln/>
        </p:spPr>
        <p:txBody>
          <a:bodyPr wrap="square" lIns="0" tIns="0" rIns="0" bIns="0" rtlCol="0" anchor="ctr"/>
          <a:lstStyle/>
          <a:p>
            <a:pPr algn="ctr" indent="0" marL="0">
              <a:buNone/>
            </a:pPr>
            <a:r>
              <a:rPr lang="en-US" sz="2000" b="1" dirty="0">
                <a:solidFill>
                  <a:srgbClr val="1F4E78"/>
                </a:solidFill>
                <a:latin typeface="Arial" pitchFamily="34" charset="0"/>
                <a:ea typeface="Arial" pitchFamily="34" charset="-122"/>
                <a:cs typeface="Arial" pitchFamily="34" charset="-120"/>
              </a:rPr>
              <a:t>R1</a:t>
            </a:r>
            <a:endParaRPr lang="en-US" sz="2000" dirty="0"/>
          </a:p>
        </p:txBody>
      </p:sp>
      <p:sp>
        <p:nvSpPr>
          <p:cNvPr id="11" name="Text 9"/>
          <p:cNvSpPr/>
          <p:nvPr/>
        </p:nvSpPr>
        <p:spPr>
          <a:xfrm>
            <a:off x="7406640" y="2624328"/>
            <a:ext cx="3108960" cy="694944"/>
          </a:xfrm>
          <a:prstGeom prst="rect">
            <a:avLst/>
          </a:prstGeom>
          <a:noFill/>
          <a:ln/>
        </p:spPr>
        <p:txBody>
          <a:bodyPr wrap="square" lIns="0" tIns="0" rIns="0" bIns="0" rtlCol="0" anchor="ctr"/>
          <a:lstStyle/>
          <a:p>
            <a:pPr indent="0" marL="0">
              <a:buNone/>
            </a:pPr>
            <a:r>
              <a:rPr lang="en-US" sz="1250" dirty="0">
                <a:solidFill>
                  <a:srgbClr val="1B2A38"/>
                </a:solidFill>
                <a:latin typeface="Arial" pitchFamily="34" charset="0"/>
                <a:ea typeface="Arial" pitchFamily="34" charset="-122"/>
                <a:cs typeface="Arial" pitchFamily="34" charset="-120"/>
              </a:rPr>
              <a:t>Regulatory and antitrust</a:t>
            </a:r>
            <a:endParaRPr lang="en-US" sz="1250" dirty="0"/>
          </a:p>
        </p:txBody>
      </p:sp>
      <p:sp>
        <p:nvSpPr>
          <p:cNvPr id="12" name="Text 10"/>
          <p:cNvSpPr/>
          <p:nvPr/>
        </p:nvSpPr>
        <p:spPr>
          <a:xfrm>
            <a:off x="10515600" y="2514600"/>
            <a:ext cx="777240" cy="914400"/>
          </a:xfrm>
          <a:prstGeom prst="rect">
            <a:avLst/>
          </a:prstGeom>
          <a:noFill/>
          <a:ln/>
        </p:spPr>
        <p:txBody>
          <a:bodyPr wrap="square" lIns="0" tIns="0" rIns="0" bIns="0" rtlCol="0" anchor="ctr"/>
          <a:lstStyle/>
          <a:p>
            <a:pPr algn="ctr" indent="0" marL="0">
              <a:buNone/>
            </a:pPr>
            <a:r>
              <a:rPr lang="en-US" sz="1100" b="1" dirty="0">
                <a:solidFill>
                  <a:srgbClr val="9A2A2A"/>
                </a:solidFill>
                <a:latin typeface="Arial" pitchFamily="34" charset="0"/>
                <a:ea typeface="Arial" pitchFamily="34" charset="-122"/>
                <a:cs typeface="Arial" pitchFamily="34" charset="-120"/>
              </a:rPr>
              <a:t>High</a:t>
            </a:r>
            <a:endParaRPr lang="en-US" sz="1100" dirty="0"/>
          </a:p>
        </p:txBody>
      </p:sp>
      <p:sp>
        <p:nvSpPr>
          <p:cNvPr id="13" name="Shape 11"/>
          <p:cNvSpPr/>
          <p:nvPr/>
        </p:nvSpPr>
        <p:spPr>
          <a:xfrm>
            <a:off x="6629400" y="3538728"/>
            <a:ext cx="4690872" cy="914400"/>
          </a:xfrm>
          <a:prstGeom prst="roundRect">
            <a:avLst>
              <a:gd name="adj" fmla="val 9000"/>
            </a:avLst>
          </a:prstGeom>
          <a:solidFill>
            <a:srgbClr val="F7E4E2"/>
          </a:solidFill>
          <a:ln/>
          <a:effectLst>
            <a:outerShdw sx="100000" sy="100000" kx="0" ky="0" algn="bl" rotWithShape="0" blurRad="101600" dist="38100" dir="5400000">
              <a:srgbClr val="000000">
                <a:alpha val="10000"/>
              </a:srgbClr>
            </a:outerShdw>
          </a:effectLst>
        </p:spPr>
      </p:sp>
      <p:sp>
        <p:nvSpPr>
          <p:cNvPr id="14" name="Text 12"/>
          <p:cNvSpPr/>
          <p:nvPr/>
        </p:nvSpPr>
        <p:spPr>
          <a:xfrm>
            <a:off x="6766560" y="3538728"/>
            <a:ext cx="640080" cy="914400"/>
          </a:xfrm>
          <a:prstGeom prst="rect">
            <a:avLst/>
          </a:prstGeom>
          <a:noFill/>
          <a:ln/>
        </p:spPr>
        <p:txBody>
          <a:bodyPr wrap="square" lIns="0" tIns="0" rIns="0" bIns="0" rtlCol="0" anchor="ctr"/>
          <a:lstStyle/>
          <a:p>
            <a:pPr algn="ctr" indent="0" marL="0">
              <a:buNone/>
            </a:pPr>
            <a:r>
              <a:rPr lang="en-US" sz="2000" b="1" dirty="0">
                <a:solidFill>
                  <a:srgbClr val="1F4E78"/>
                </a:solidFill>
                <a:latin typeface="Arial" pitchFamily="34" charset="0"/>
                <a:ea typeface="Arial" pitchFamily="34" charset="-122"/>
                <a:cs typeface="Arial" pitchFamily="34" charset="-120"/>
              </a:rPr>
              <a:t>R2</a:t>
            </a:r>
            <a:endParaRPr lang="en-US" sz="2000" dirty="0"/>
          </a:p>
        </p:txBody>
      </p:sp>
      <p:sp>
        <p:nvSpPr>
          <p:cNvPr id="15" name="Text 13"/>
          <p:cNvSpPr/>
          <p:nvPr/>
        </p:nvSpPr>
        <p:spPr>
          <a:xfrm>
            <a:off x="7406640" y="3648456"/>
            <a:ext cx="3108960" cy="694944"/>
          </a:xfrm>
          <a:prstGeom prst="rect">
            <a:avLst/>
          </a:prstGeom>
          <a:noFill/>
          <a:ln/>
        </p:spPr>
        <p:txBody>
          <a:bodyPr wrap="square" lIns="0" tIns="0" rIns="0" bIns="0" rtlCol="0" anchor="ctr"/>
          <a:lstStyle/>
          <a:p>
            <a:pPr indent="0" marL="0">
              <a:buNone/>
            </a:pPr>
            <a:r>
              <a:rPr lang="en-US" sz="1250" dirty="0">
                <a:solidFill>
                  <a:srgbClr val="1B2A38"/>
                </a:solidFill>
                <a:latin typeface="Arial" pitchFamily="34" charset="0"/>
                <a:ea typeface="Arial" pitchFamily="34" charset="-122"/>
                <a:cs typeface="Arial" pitchFamily="34" charset="-120"/>
              </a:rPr>
              <a:t>Subscriber churn and competitive response</a:t>
            </a:r>
            <a:endParaRPr lang="en-US" sz="1250" dirty="0"/>
          </a:p>
        </p:txBody>
      </p:sp>
      <p:sp>
        <p:nvSpPr>
          <p:cNvPr id="16" name="Text 14"/>
          <p:cNvSpPr/>
          <p:nvPr/>
        </p:nvSpPr>
        <p:spPr>
          <a:xfrm>
            <a:off x="10515600" y="3538728"/>
            <a:ext cx="777240" cy="914400"/>
          </a:xfrm>
          <a:prstGeom prst="rect">
            <a:avLst/>
          </a:prstGeom>
          <a:noFill/>
          <a:ln/>
        </p:spPr>
        <p:txBody>
          <a:bodyPr wrap="square" lIns="0" tIns="0" rIns="0" bIns="0" rtlCol="0" anchor="ctr"/>
          <a:lstStyle/>
          <a:p>
            <a:pPr algn="ctr" indent="0" marL="0">
              <a:buNone/>
            </a:pPr>
            <a:r>
              <a:rPr lang="en-US" sz="1100" b="1" dirty="0">
                <a:solidFill>
                  <a:srgbClr val="9A2A2A"/>
                </a:solidFill>
                <a:latin typeface="Arial" pitchFamily="34" charset="0"/>
                <a:ea typeface="Arial" pitchFamily="34" charset="-122"/>
                <a:cs typeface="Arial" pitchFamily="34" charset="-120"/>
              </a:rPr>
              <a:t>High</a:t>
            </a:r>
            <a:endParaRPr lang="en-US" sz="1100" dirty="0"/>
          </a:p>
        </p:txBody>
      </p:sp>
      <p:sp>
        <p:nvSpPr>
          <p:cNvPr id="17" name="Shape 15"/>
          <p:cNvSpPr/>
          <p:nvPr/>
        </p:nvSpPr>
        <p:spPr>
          <a:xfrm>
            <a:off x="6629400" y="4562856"/>
            <a:ext cx="4690872" cy="914400"/>
          </a:xfrm>
          <a:prstGeom prst="roundRect">
            <a:avLst>
              <a:gd name="adj" fmla="val 9000"/>
            </a:avLst>
          </a:prstGeom>
          <a:solidFill>
            <a:srgbClr val="FBF1DD"/>
          </a:solidFill>
          <a:ln/>
          <a:effectLst>
            <a:outerShdw sx="100000" sy="100000" kx="0" ky="0" algn="bl" rotWithShape="0" blurRad="101600" dist="38100" dir="5400000">
              <a:srgbClr val="000000">
                <a:alpha val="10000"/>
              </a:srgbClr>
            </a:outerShdw>
          </a:effectLst>
        </p:spPr>
      </p:sp>
      <p:sp>
        <p:nvSpPr>
          <p:cNvPr id="18" name="Text 16"/>
          <p:cNvSpPr/>
          <p:nvPr/>
        </p:nvSpPr>
        <p:spPr>
          <a:xfrm>
            <a:off x="6766560" y="4562856"/>
            <a:ext cx="640080" cy="914400"/>
          </a:xfrm>
          <a:prstGeom prst="rect">
            <a:avLst/>
          </a:prstGeom>
          <a:noFill/>
          <a:ln/>
        </p:spPr>
        <p:txBody>
          <a:bodyPr wrap="square" lIns="0" tIns="0" rIns="0" bIns="0" rtlCol="0" anchor="ctr"/>
          <a:lstStyle/>
          <a:p>
            <a:pPr algn="ctr" indent="0" marL="0">
              <a:buNone/>
            </a:pPr>
            <a:r>
              <a:rPr lang="en-US" sz="2000" b="1" dirty="0">
                <a:solidFill>
                  <a:srgbClr val="1F4E78"/>
                </a:solidFill>
                <a:latin typeface="Arial" pitchFamily="34" charset="0"/>
                <a:ea typeface="Arial" pitchFamily="34" charset="-122"/>
                <a:cs typeface="Arial" pitchFamily="34" charset="-120"/>
              </a:rPr>
              <a:t>R3</a:t>
            </a:r>
            <a:endParaRPr lang="en-US" sz="2000" dirty="0"/>
          </a:p>
        </p:txBody>
      </p:sp>
      <p:sp>
        <p:nvSpPr>
          <p:cNvPr id="19" name="Text 17"/>
          <p:cNvSpPr/>
          <p:nvPr/>
        </p:nvSpPr>
        <p:spPr>
          <a:xfrm>
            <a:off x="7406640" y="4672584"/>
            <a:ext cx="3108960" cy="694944"/>
          </a:xfrm>
          <a:prstGeom prst="rect">
            <a:avLst/>
          </a:prstGeom>
          <a:noFill/>
          <a:ln/>
        </p:spPr>
        <p:txBody>
          <a:bodyPr wrap="square" lIns="0" tIns="0" rIns="0" bIns="0" rtlCol="0" anchor="ctr"/>
          <a:lstStyle/>
          <a:p>
            <a:pPr indent="0" marL="0">
              <a:buNone/>
            </a:pPr>
            <a:r>
              <a:rPr lang="en-US" sz="1250" dirty="0">
                <a:solidFill>
                  <a:srgbClr val="1B2A38"/>
                </a:solidFill>
                <a:latin typeface="Arial" pitchFamily="34" charset="0"/>
                <a:ea typeface="Arial" pitchFamily="34" charset="-122"/>
                <a:cs typeface="Arial" pitchFamily="34" charset="-120"/>
              </a:rPr>
              <a:t>Cybersecurity and data integration</a:t>
            </a:r>
            <a:endParaRPr lang="en-US" sz="1250" dirty="0"/>
          </a:p>
        </p:txBody>
      </p:sp>
      <p:sp>
        <p:nvSpPr>
          <p:cNvPr id="20" name="Text 18"/>
          <p:cNvSpPr/>
          <p:nvPr/>
        </p:nvSpPr>
        <p:spPr>
          <a:xfrm>
            <a:off x="10515600" y="4562856"/>
            <a:ext cx="777240" cy="914400"/>
          </a:xfrm>
          <a:prstGeom prst="rect">
            <a:avLst/>
          </a:prstGeom>
          <a:noFill/>
          <a:ln/>
        </p:spPr>
        <p:txBody>
          <a:bodyPr wrap="square" lIns="0" tIns="0" rIns="0" bIns="0" rtlCol="0" anchor="ctr"/>
          <a:lstStyle/>
          <a:p>
            <a:pPr algn="ctr" indent="0" marL="0">
              <a:buNone/>
            </a:pPr>
            <a:r>
              <a:rPr lang="en-US" sz="1100" b="1" dirty="0">
                <a:solidFill>
                  <a:srgbClr val="9C5A00"/>
                </a:solidFill>
                <a:latin typeface="Arial" pitchFamily="34" charset="0"/>
                <a:ea typeface="Arial" pitchFamily="34" charset="-122"/>
                <a:cs typeface="Arial" pitchFamily="34" charset="-120"/>
              </a:rPr>
              <a:t>Medium</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THE SCENARIO</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Apple acquires Netflix</a:t>
            </a:r>
            <a:endParaRPr lang="en-US" sz="2800" dirty="0"/>
          </a:p>
        </p:txBody>
      </p:sp>
      <p:sp>
        <p:nvSpPr>
          <p:cNvPr id="4" name="Text 2"/>
          <p:cNvSpPr/>
          <p:nvPr/>
        </p:nvSpPr>
        <p:spPr>
          <a:xfrm>
            <a:off x="548640" y="1783080"/>
            <a:ext cx="5486400" cy="4023360"/>
          </a:xfrm>
          <a:prstGeom prst="rect">
            <a:avLst/>
          </a:prstGeom>
          <a:noFill/>
          <a:ln/>
        </p:spPr>
        <p:txBody>
          <a:bodyPr wrap="square" rtlCol="0" anchor="t"/>
          <a:lstStyle/>
          <a:p>
            <a:pPr marL="177800" indent="-177800">
              <a:lnSpc>
                <a:spcPct val="104000"/>
              </a:lnSpc>
              <a:spcAft>
                <a:spcPts val="700"/>
              </a:spcAft>
              <a:buSzPct val="100000"/>
              <a:buChar char="•"/>
            </a:pPr>
            <a:r>
              <a:rPr lang="en-US" sz="1600" dirty="0">
                <a:solidFill>
                  <a:srgbClr val="1B2A38"/>
                </a:solidFill>
                <a:latin typeface="Arial" pitchFamily="34" charset="0"/>
                <a:ea typeface="Arial" pitchFamily="34" charset="-122"/>
                <a:cs typeface="Arial" pitchFamily="34" charset="-120"/>
              </a:rPr>
              <a:t>Apple buys instant scale in subscription streaming</a:t>
            </a:r>
            <a:endParaRPr lang="en-US" sz="1600" dirty="0"/>
          </a:p>
          <a:p>
            <a:pPr marL="177800" indent="-177800">
              <a:lnSpc>
                <a:spcPct val="104000"/>
              </a:lnSpc>
              <a:spcAft>
                <a:spcPts val="700"/>
              </a:spcAft>
              <a:buSzPct val="100000"/>
              <a:buChar char="•"/>
            </a:pPr>
            <a:r>
              <a:rPr lang="en-US" sz="1600" dirty="0">
                <a:solidFill>
                  <a:srgbClr val="1B2A38"/>
                </a:solidFill>
                <a:latin typeface="Arial" pitchFamily="34" charset="0"/>
                <a:ea typeface="Arial" pitchFamily="34" charset="-122"/>
                <a:cs typeface="Arial" pitchFamily="34" charset="-120"/>
              </a:rPr>
              <a:t>Bundling Netflix into Apple One lifts Services revenue</a:t>
            </a:r>
            <a:endParaRPr lang="en-US" sz="1600" dirty="0"/>
          </a:p>
          <a:p>
            <a:pPr marL="177800" indent="-177800">
              <a:lnSpc>
                <a:spcPct val="104000"/>
              </a:lnSpc>
              <a:spcAft>
                <a:spcPts val="700"/>
              </a:spcAft>
              <a:buSzPct val="100000"/>
              <a:buChar char="•"/>
            </a:pPr>
            <a:r>
              <a:rPr lang="en-US" sz="1600" dirty="0">
                <a:solidFill>
                  <a:srgbClr val="1B2A38"/>
                </a:solidFill>
                <a:latin typeface="Arial" pitchFamily="34" charset="0"/>
                <a:ea typeface="Arial" pitchFamily="34" charset="-122"/>
                <a:cs typeface="Arial" pitchFamily="34" charset="-120"/>
              </a:rPr>
              <a:t>It pushes Apple into content production at a new scale</a:t>
            </a:r>
            <a:endParaRPr lang="en-US" sz="1600" dirty="0"/>
          </a:p>
          <a:p>
            <a:pPr marL="177800" indent="-177800">
              <a:lnSpc>
                <a:spcPct val="104000"/>
              </a:lnSpc>
              <a:spcAft>
                <a:spcPts val="700"/>
              </a:spcAft>
              <a:buSzPct val="100000"/>
              <a:buChar char="•"/>
            </a:pPr>
            <a:r>
              <a:rPr lang="en-US" sz="1600" dirty="0">
                <a:solidFill>
                  <a:srgbClr val="1B2A38"/>
                </a:solidFill>
                <a:latin typeface="Arial" pitchFamily="34" charset="0"/>
                <a:ea typeface="Arial" pitchFamily="34" charset="-122"/>
                <a:cs typeface="Arial" pitchFamily="34" charset="-120"/>
              </a:rPr>
              <a:t>Direct rivalry with Disney, Amazon, and Warner Bros Discovery</a:t>
            </a:r>
            <a:endParaRPr lang="en-US" sz="1600" dirty="0"/>
          </a:p>
          <a:p>
            <a:pPr marL="177800" indent="-177800">
              <a:lnSpc>
                <a:spcPct val="104000"/>
              </a:lnSpc>
              <a:spcAft>
                <a:spcPts val="700"/>
              </a:spcAft>
              <a:buSzPct val="100000"/>
              <a:buChar char="•"/>
            </a:pPr>
            <a:r>
              <a:rPr lang="en-US" sz="1600" dirty="0">
                <a:solidFill>
                  <a:srgbClr val="1B2A38"/>
                </a:solidFill>
                <a:latin typeface="Arial" pitchFamily="34" charset="0"/>
                <a:ea typeface="Arial" pitchFamily="34" charset="-122"/>
                <a:cs typeface="Arial" pitchFamily="34" charset="-120"/>
              </a:rPr>
              <a:t>A deal this size draws heavy regulatory attention</a:t>
            </a:r>
            <a:endParaRPr lang="en-US" sz="1600" dirty="0"/>
          </a:p>
        </p:txBody>
      </p:sp>
      <p:sp>
        <p:nvSpPr>
          <p:cNvPr id="5" name="Shape 3"/>
          <p:cNvSpPr/>
          <p:nvPr/>
        </p:nvSpPr>
        <p:spPr>
          <a:xfrm>
            <a:off x="6355080" y="1783080"/>
            <a:ext cx="256032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6" name="Text 4"/>
          <p:cNvSpPr/>
          <p:nvPr/>
        </p:nvSpPr>
        <p:spPr>
          <a:xfrm>
            <a:off x="6464808" y="1929384"/>
            <a:ext cx="2340864" cy="713232"/>
          </a:xfrm>
          <a:prstGeom prst="rect">
            <a:avLst/>
          </a:prstGeom>
          <a:noFill/>
          <a:ln/>
        </p:spPr>
        <p:txBody>
          <a:bodyPr wrap="square" lIns="0" tIns="0" rIns="0" bIns="0" rtlCol="0" anchor="ctr"/>
          <a:lstStyle/>
          <a:p>
            <a:pPr algn="ctr" indent="0" marL="0">
              <a:buNone/>
            </a:pPr>
            <a:r>
              <a:rPr lang="en-US" sz="3100" b="1" dirty="0">
                <a:solidFill>
                  <a:srgbClr val="1F4E78"/>
                </a:solidFill>
                <a:latin typeface="Arial" pitchFamily="34" charset="0"/>
                <a:ea typeface="Arial" pitchFamily="34" charset="-122"/>
                <a:cs typeface="Arial" pitchFamily="34" charset="-120"/>
              </a:rPr>
              <a:t>301M</a:t>
            </a:r>
            <a:endParaRPr lang="en-US" sz="3100" dirty="0"/>
          </a:p>
        </p:txBody>
      </p:sp>
      <p:sp>
        <p:nvSpPr>
          <p:cNvPr id="7" name="Text 5"/>
          <p:cNvSpPr/>
          <p:nvPr/>
        </p:nvSpPr>
        <p:spPr>
          <a:xfrm>
            <a:off x="6464808" y="2651760"/>
            <a:ext cx="234086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Netflix paid memberships</a:t>
            </a:r>
            <a:endParaRPr lang="en-US" sz="1150" dirty="0"/>
          </a:p>
        </p:txBody>
      </p:sp>
      <p:sp>
        <p:nvSpPr>
          <p:cNvPr id="8" name="Shape 6"/>
          <p:cNvSpPr/>
          <p:nvPr/>
        </p:nvSpPr>
        <p:spPr>
          <a:xfrm>
            <a:off x="9098280" y="1783080"/>
            <a:ext cx="256032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9" name="Text 7"/>
          <p:cNvSpPr/>
          <p:nvPr/>
        </p:nvSpPr>
        <p:spPr>
          <a:xfrm>
            <a:off x="9208008" y="1929384"/>
            <a:ext cx="2340864" cy="713232"/>
          </a:xfrm>
          <a:prstGeom prst="rect">
            <a:avLst/>
          </a:prstGeom>
          <a:noFill/>
          <a:ln/>
        </p:spPr>
        <p:txBody>
          <a:bodyPr wrap="square" lIns="0" tIns="0" rIns="0" bIns="0" rtlCol="0" anchor="ctr"/>
          <a:lstStyle/>
          <a:p>
            <a:pPr algn="ctr" indent="0" marL="0">
              <a:buNone/>
            </a:pPr>
            <a:r>
              <a:rPr lang="en-US" sz="3100" b="1" dirty="0">
                <a:solidFill>
                  <a:srgbClr val="0E9AA7"/>
                </a:solidFill>
                <a:latin typeface="Arial" pitchFamily="34" charset="0"/>
                <a:ea typeface="Arial" pitchFamily="34" charset="-122"/>
                <a:cs typeface="Arial" pitchFamily="34" charset="-120"/>
              </a:rPr>
              <a:t>$153B</a:t>
            </a:r>
            <a:endParaRPr lang="en-US" sz="3100" dirty="0"/>
          </a:p>
        </p:txBody>
      </p:sp>
      <p:sp>
        <p:nvSpPr>
          <p:cNvPr id="10" name="Text 8"/>
          <p:cNvSpPr/>
          <p:nvPr/>
        </p:nvSpPr>
        <p:spPr>
          <a:xfrm>
            <a:off x="9208008" y="2651760"/>
            <a:ext cx="234086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Apple cash on hand</a:t>
            </a:r>
            <a:endParaRPr lang="en-US" sz="1150" dirty="0"/>
          </a:p>
        </p:txBody>
      </p:sp>
      <p:sp>
        <p:nvSpPr>
          <p:cNvPr id="11" name="Shape 9"/>
          <p:cNvSpPr/>
          <p:nvPr/>
        </p:nvSpPr>
        <p:spPr>
          <a:xfrm>
            <a:off x="6355080" y="3520440"/>
            <a:ext cx="256032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12" name="Text 10"/>
          <p:cNvSpPr/>
          <p:nvPr/>
        </p:nvSpPr>
        <p:spPr>
          <a:xfrm>
            <a:off x="6464808" y="3666744"/>
            <a:ext cx="2340864" cy="713232"/>
          </a:xfrm>
          <a:prstGeom prst="rect">
            <a:avLst/>
          </a:prstGeom>
          <a:noFill/>
          <a:ln/>
        </p:spPr>
        <p:txBody>
          <a:bodyPr wrap="square" lIns="0" tIns="0" rIns="0" bIns="0" rtlCol="0" anchor="ctr"/>
          <a:lstStyle/>
          <a:p>
            <a:pPr algn="ctr" indent="0" marL="0">
              <a:buNone/>
            </a:pPr>
            <a:r>
              <a:rPr lang="en-US" sz="3100" b="1" dirty="0">
                <a:solidFill>
                  <a:srgbClr val="1F4E78"/>
                </a:solidFill>
                <a:latin typeface="Arial" pitchFamily="34" charset="0"/>
                <a:ea typeface="Arial" pitchFamily="34" charset="-122"/>
                <a:cs typeface="Arial" pitchFamily="34" charset="-120"/>
              </a:rPr>
              <a:t>~$400B</a:t>
            </a:r>
            <a:endParaRPr lang="en-US" sz="3100" dirty="0"/>
          </a:p>
        </p:txBody>
      </p:sp>
      <p:sp>
        <p:nvSpPr>
          <p:cNvPr id="13" name="Text 11"/>
          <p:cNvSpPr/>
          <p:nvPr/>
        </p:nvSpPr>
        <p:spPr>
          <a:xfrm>
            <a:off x="6464808" y="4389120"/>
            <a:ext cx="234086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Netflix market value</a:t>
            </a:r>
            <a:endParaRPr lang="en-US" sz="1150" dirty="0"/>
          </a:p>
        </p:txBody>
      </p:sp>
      <p:sp>
        <p:nvSpPr>
          <p:cNvPr id="14" name="Shape 12"/>
          <p:cNvSpPr/>
          <p:nvPr/>
        </p:nvSpPr>
        <p:spPr>
          <a:xfrm>
            <a:off x="9098280" y="3520440"/>
            <a:ext cx="256032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15" name="Text 13"/>
          <p:cNvSpPr/>
          <p:nvPr/>
        </p:nvSpPr>
        <p:spPr>
          <a:xfrm>
            <a:off x="9208008" y="3666744"/>
            <a:ext cx="2340864" cy="713232"/>
          </a:xfrm>
          <a:prstGeom prst="rect">
            <a:avLst/>
          </a:prstGeom>
          <a:noFill/>
          <a:ln/>
        </p:spPr>
        <p:txBody>
          <a:bodyPr wrap="square" lIns="0" tIns="0" rIns="0" bIns="0" rtlCol="0" anchor="ctr"/>
          <a:lstStyle/>
          <a:p>
            <a:pPr algn="ctr" indent="0" marL="0">
              <a:buNone/>
            </a:pPr>
            <a:r>
              <a:rPr lang="en-US" sz="3100" b="1" dirty="0">
                <a:solidFill>
                  <a:srgbClr val="D99A2B"/>
                </a:solidFill>
                <a:latin typeface="Arial" pitchFamily="34" charset="0"/>
                <a:ea typeface="Arial" pitchFamily="34" charset="-122"/>
                <a:cs typeface="Arial" pitchFamily="34" charset="-120"/>
              </a:rPr>
              <a:t>2.2B</a:t>
            </a:r>
            <a:endParaRPr lang="en-US" sz="3100" dirty="0"/>
          </a:p>
        </p:txBody>
      </p:sp>
      <p:sp>
        <p:nvSpPr>
          <p:cNvPr id="16" name="Text 14"/>
          <p:cNvSpPr/>
          <p:nvPr/>
        </p:nvSpPr>
        <p:spPr>
          <a:xfrm>
            <a:off x="9208008" y="4389120"/>
            <a:ext cx="234086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Apple active devices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IDENTIFYING THE RISKS</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From SWOT to three competitive risks</a:t>
            </a:r>
            <a:endParaRPr lang="en-US" sz="2800" dirty="0"/>
          </a:p>
        </p:txBody>
      </p:sp>
      <p:sp>
        <p:nvSpPr>
          <p:cNvPr id="4" name="Shape 2"/>
          <p:cNvSpPr/>
          <p:nvPr/>
        </p:nvSpPr>
        <p:spPr>
          <a:xfrm>
            <a:off x="548640" y="1737360"/>
            <a:ext cx="5440680" cy="1965960"/>
          </a:xfrm>
          <a:prstGeom prst="roundRect">
            <a:avLst>
              <a:gd name="adj" fmla="val 4186"/>
            </a:avLst>
          </a:prstGeom>
          <a:solidFill>
            <a:srgbClr val="EFF4F9"/>
          </a:solidFill>
          <a:ln/>
          <a:effectLst>
            <a:outerShdw sx="100000" sy="100000" kx="0" ky="0" algn="bl" rotWithShape="0" blurRad="101600" dist="38100" dir="5400000">
              <a:srgbClr val="000000">
                <a:alpha val="10000"/>
              </a:srgbClr>
            </a:outerShdw>
          </a:effectLst>
        </p:spPr>
      </p:sp>
      <p:sp>
        <p:nvSpPr>
          <p:cNvPr id="5" name="Text 3"/>
          <p:cNvSpPr/>
          <p:nvPr/>
        </p:nvSpPr>
        <p:spPr>
          <a:xfrm>
            <a:off x="822960" y="1901952"/>
            <a:ext cx="4846320" cy="411480"/>
          </a:xfrm>
          <a:prstGeom prst="rect">
            <a:avLst/>
          </a:prstGeom>
          <a:noFill/>
          <a:ln/>
        </p:spPr>
        <p:txBody>
          <a:bodyPr wrap="square" lIns="0" tIns="0" rIns="0" bIns="0" rtlCol="0" anchor="ctr"/>
          <a:lstStyle/>
          <a:p>
            <a:pPr indent="0" marL="0">
              <a:buNone/>
            </a:pPr>
            <a:r>
              <a:rPr lang="en-US" sz="1700" b="1" dirty="0">
                <a:solidFill>
                  <a:srgbClr val="1F4E78"/>
                </a:solidFill>
                <a:latin typeface="Arial" pitchFamily="34" charset="0"/>
                <a:ea typeface="Arial" pitchFamily="34" charset="-122"/>
                <a:cs typeface="Arial" pitchFamily="34" charset="-120"/>
              </a:rPr>
              <a:t>Strengths</a:t>
            </a:r>
            <a:endParaRPr lang="en-US" sz="1700" dirty="0"/>
          </a:p>
        </p:txBody>
      </p:sp>
      <p:sp>
        <p:nvSpPr>
          <p:cNvPr id="6" name="Text 4"/>
          <p:cNvSpPr/>
          <p:nvPr/>
        </p:nvSpPr>
        <p:spPr>
          <a:xfrm>
            <a:off x="841248" y="2423160"/>
            <a:ext cx="4846320" cy="1188720"/>
          </a:xfrm>
          <a:prstGeom prst="rect">
            <a:avLst/>
          </a:prstGeom>
          <a:noFill/>
          <a:ln/>
        </p:spPr>
        <p:txBody>
          <a:bodyPr wrap="square" rtlCol="0" anchor="t"/>
          <a:lstStyle/>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Cash and 2.2B device reach</a:t>
            </a:r>
            <a:endParaRPr lang="en-US" sz="1350" dirty="0"/>
          </a:p>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Brand and privacy trust</a:t>
            </a:r>
            <a:endParaRPr lang="en-US" sz="1350" dirty="0"/>
          </a:p>
        </p:txBody>
      </p:sp>
      <p:sp>
        <p:nvSpPr>
          <p:cNvPr id="7" name="Shape 5"/>
          <p:cNvSpPr/>
          <p:nvPr/>
        </p:nvSpPr>
        <p:spPr>
          <a:xfrm>
            <a:off x="6172200" y="1737360"/>
            <a:ext cx="5440680" cy="1965960"/>
          </a:xfrm>
          <a:prstGeom prst="roundRect">
            <a:avLst>
              <a:gd name="adj" fmla="val 4186"/>
            </a:avLst>
          </a:prstGeom>
          <a:solidFill>
            <a:srgbClr val="FBF1DD"/>
          </a:solidFill>
          <a:ln/>
          <a:effectLst>
            <a:outerShdw sx="100000" sy="100000" kx="0" ky="0" algn="bl" rotWithShape="0" blurRad="101600" dist="38100" dir="5400000">
              <a:srgbClr val="000000">
                <a:alpha val="10000"/>
              </a:srgbClr>
            </a:outerShdw>
          </a:effectLst>
        </p:spPr>
      </p:sp>
      <p:sp>
        <p:nvSpPr>
          <p:cNvPr id="8" name="Text 6"/>
          <p:cNvSpPr/>
          <p:nvPr/>
        </p:nvSpPr>
        <p:spPr>
          <a:xfrm>
            <a:off x="6446520" y="1901952"/>
            <a:ext cx="4846320" cy="411480"/>
          </a:xfrm>
          <a:prstGeom prst="rect">
            <a:avLst/>
          </a:prstGeom>
          <a:noFill/>
          <a:ln/>
        </p:spPr>
        <p:txBody>
          <a:bodyPr wrap="square" lIns="0" tIns="0" rIns="0" bIns="0" rtlCol="0" anchor="ctr"/>
          <a:lstStyle/>
          <a:p>
            <a:pPr indent="0" marL="0">
              <a:buNone/>
            </a:pPr>
            <a:r>
              <a:rPr lang="en-US" sz="1700" b="1" dirty="0">
                <a:solidFill>
                  <a:srgbClr val="9C5A00"/>
                </a:solidFill>
                <a:latin typeface="Arial" pitchFamily="34" charset="0"/>
                <a:ea typeface="Arial" pitchFamily="34" charset="-122"/>
                <a:cs typeface="Arial" pitchFamily="34" charset="-120"/>
              </a:rPr>
              <a:t>Weaknesses</a:t>
            </a:r>
            <a:endParaRPr lang="en-US" sz="1700" dirty="0"/>
          </a:p>
        </p:txBody>
      </p:sp>
      <p:sp>
        <p:nvSpPr>
          <p:cNvPr id="9" name="Text 7"/>
          <p:cNvSpPr/>
          <p:nvPr/>
        </p:nvSpPr>
        <p:spPr>
          <a:xfrm>
            <a:off x="6464808" y="2423160"/>
            <a:ext cx="4846320" cy="1188720"/>
          </a:xfrm>
          <a:prstGeom prst="rect">
            <a:avLst/>
          </a:prstGeom>
          <a:noFill/>
          <a:ln/>
        </p:spPr>
        <p:txBody>
          <a:bodyPr wrap="square" rtlCol="0" anchor="t"/>
          <a:lstStyle/>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Thin content experience</a:t>
            </a:r>
            <a:endParaRPr lang="en-US" sz="1350" dirty="0"/>
          </a:p>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Integration and culture</a:t>
            </a:r>
            <a:endParaRPr lang="en-US" sz="1350" dirty="0"/>
          </a:p>
        </p:txBody>
      </p:sp>
      <p:sp>
        <p:nvSpPr>
          <p:cNvPr id="10" name="Shape 8"/>
          <p:cNvSpPr/>
          <p:nvPr/>
        </p:nvSpPr>
        <p:spPr>
          <a:xfrm>
            <a:off x="548640" y="3886200"/>
            <a:ext cx="5440680" cy="1965960"/>
          </a:xfrm>
          <a:prstGeom prst="roundRect">
            <a:avLst>
              <a:gd name="adj" fmla="val 4186"/>
            </a:avLst>
          </a:prstGeom>
          <a:solidFill>
            <a:srgbClr val="E7F4F6"/>
          </a:solidFill>
          <a:ln/>
          <a:effectLst>
            <a:outerShdw sx="100000" sy="100000" kx="0" ky="0" algn="bl" rotWithShape="0" blurRad="101600" dist="38100" dir="5400000">
              <a:srgbClr val="000000">
                <a:alpha val="10000"/>
              </a:srgbClr>
            </a:outerShdw>
          </a:effectLst>
        </p:spPr>
      </p:sp>
      <p:sp>
        <p:nvSpPr>
          <p:cNvPr id="11" name="Text 9"/>
          <p:cNvSpPr/>
          <p:nvPr/>
        </p:nvSpPr>
        <p:spPr>
          <a:xfrm>
            <a:off x="822960" y="4050792"/>
            <a:ext cx="4846320" cy="411480"/>
          </a:xfrm>
          <a:prstGeom prst="rect">
            <a:avLst/>
          </a:prstGeom>
          <a:noFill/>
          <a:ln/>
        </p:spPr>
        <p:txBody>
          <a:bodyPr wrap="square" lIns="0" tIns="0" rIns="0" bIns="0" rtlCol="0" anchor="ctr"/>
          <a:lstStyle/>
          <a:p>
            <a:pPr indent="0" marL="0">
              <a:buNone/>
            </a:pPr>
            <a:r>
              <a:rPr lang="en-US" sz="1700" b="1" dirty="0">
                <a:solidFill>
                  <a:srgbClr val="1E6B2F"/>
                </a:solidFill>
                <a:latin typeface="Arial" pitchFamily="34" charset="0"/>
                <a:ea typeface="Arial" pitchFamily="34" charset="-122"/>
                <a:cs typeface="Arial" pitchFamily="34" charset="-120"/>
              </a:rPr>
              <a:t>Opportunities</a:t>
            </a:r>
            <a:endParaRPr lang="en-US" sz="1700" dirty="0"/>
          </a:p>
        </p:txBody>
      </p:sp>
      <p:sp>
        <p:nvSpPr>
          <p:cNvPr id="12" name="Text 10"/>
          <p:cNvSpPr/>
          <p:nvPr/>
        </p:nvSpPr>
        <p:spPr>
          <a:xfrm>
            <a:off x="841248" y="4572000"/>
            <a:ext cx="4846320" cy="1188720"/>
          </a:xfrm>
          <a:prstGeom prst="rect">
            <a:avLst/>
          </a:prstGeom>
          <a:noFill/>
          <a:ln/>
        </p:spPr>
        <p:txBody>
          <a:bodyPr wrap="square" rtlCol="0" anchor="t"/>
          <a:lstStyle/>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Instant streaming scale</a:t>
            </a:r>
            <a:endParaRPr lang="en-US" sz="1350" dirty="0"/>
          </a:p>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Bundling lifts ARPU</a:t>
            </a:r>
            <a:endParaRPr lang="en-US" sz="1350" dirty="0"/>
          </a:p>
        </p:txBody>
      </p:sp>
      <p:sp>
        <p:nvSpPr>
          <p:cNvPr id="13" name="Shape 11"/>
          <p:cNvSpPr/>
          <p:nvPr/>
        </p:nvSpPr>
        <p:spPr>
          <a:xfrm>
            <a:off x="6172200" y="3886200"/>
            <a:ext cx="5440680" cy="1965960"/>
          </a:xfrm>
          <a:prstGeom prst="roundRect">
            <a:avLst>
              <a:gd name="adj" fmla="val 4186"/>
            </a:avLst>
          </a:prstGeom>
          <a:solidFill>
            <a:srgbClr val="F7E4E2"/>
          </a:solidFill>
          <a:ln/>
          <a:effectLst>
            <a:outerShdw sx="100000" sy="100000" kx="0" ky="0" algn="bl" rotWithShape="0" blurRad="101600" dist="38100" dir="5400000">
              <a:srgbClr val="000000">
                <a:alpha val="10000"/>
              </a:srgbClr>
            </a:outerShdw>
          </a:effectLst>
        </p:spPr>
      </p:sp>
      <p:sp>
        <p:nvSpPr>
          <p:cNvPr id="14" name="Text 12"/>
          <p:cNvSpPr/>
          <p:nvPr/>
        </p:nvSpPr>
        <p:spPr>
          <a:xfrm>
            <a:off x="6446520" y="4050792"/>
            <a:ext cx="4846320" cy="411480"/>
          </a:xfrm>
          <a:prstGeom prst="rect">
            <a:avLst/>
          </a:prstGeom>
          <a:noFill/>
          <a:ln/>
        </p:spPr>
        <p:txBody>
          <a:bodyPr wrap="square" lIns="0" tIns="0" rIns="0" bIns="0" rtlCol="0" anchor="ctr"/>
          <a:lstStyle/>
          <a:p>
            <a:pPr indent="0" marL="0">
              <a:buNone/>
            </a:pPr>
            <a:r>
              <a:rPr lang="en-US" sz="1700" b="1" dirty="0">
                <a:solidFill>
                  <a:srgbClr val="9A2A2A"/>
                </a:solidFill>
                <a:latin typeface="Arial" pitchFamily="34" charset="0"/>
                <a:ea typeface="Arial" pitchFamily="34" charset="-122"/>
                <a:cs typeface="Arial" pitchFamily="34" charset="-120"/>
              </a:rPr>
              <a:t>Threats</a:t>
            </a:r>
            <a:endParaRPr lang="en-US" sz="1700" dirty="0"/>
          </a:p>
        </p:txBody>
      </p:sp>
      <p:sp>
        <p:nvSpPr>
          <p:cNvPr id="15" name="Text 13"/>
          <p:cNvSpPr/>
          <p:nvPr/>
        </p:nvSpPr>
        <p:spPr>
          <a:xfrm>
            <a:off x="6464808" y="4572000"/>
            <a:ext cx="4846320" cy="1188720"/>
          </a:xfrm>
          <a:prstGeom prst="rect">
            <a:avLst/>
          </a:prstGeom>
          <a:noFill/>
          <a:ln/>
        </p:spPr>
        <p:txBody>
          <a:bodyPr wrap="square" rtlCol="0" anchor="t"/>
          <a:lstStyle/>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Antitrust and content arms race</a:t>
            </a:r>
            <a:endParaRPr lang="en-US" sz="1350" dirty="0"/>
          </a:p>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Churn and data exposure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THE THREE RISKS</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Scored on the 1 to 9 scale</a:t>
            </a:r>
            <a:endParaRPr lang="en-US" sz="2800" dirty="0"/>
          </a:p>
        </p:txBody>
      </p:sp>
      <p:pic>
        <p:nvPicPr>
          <p:cNvPr id="4" name="Image 0" descr="/home/claude/erm/figures/risk_heatmap.png">    </p:cNvPr>
          <p:cNvPicPr>
            <a:picLocks noChangeAspect="1"/>
          </p:cNvPicPr>
          <p:nvPr/>
        </p:nvPicPr>
        <p:blipFill>
          <a:blip r:embed="rId1"/>
          <a:stretch>
            <a:fillRect/>
          </a:stretch>
        </p:blipFill>
        <p:spPr>
          <a:xfrm>
            <a:off x="502920" y="1783080"/>
            <a:ext cx="6035040" cy="4121451"/>
          </a:xfrm>
          <a:prstGeom prst="rect">
            <a:avLst/>
          </a:prstGeom>
        </p:spPr>
      </p:pic>
      <p:sp>
        <p:nvSpPr>
          <p:cNvPr id="5" name="Shape 2"/>
          <p:cNvSpPr/>
          <p:nvPr/>
        </p:nvSpPr>
        <p:spPr>
          <a:xfrm>
            <a:off x="6812280" y="2011680"/>
            <a:ext cx="4800600" cy="1143000"/>
          </a:xfrm>
          <a:prstGeom prst="roundRect">
            <a:avLst>
              <a:gd name="adj" fmla="val 7200"/>
            </a:avLst>
          </a:prstGeom>
          <a:solidFill>
            <a:srgbClr val="FFFFFF"/>
          </a:solidFill>
          <a:ln/>
          <a:effectLst>
            <a:outerShdw sx="100000" sy="100000" kx="0" ky="0" algn="bl" rotWithShape="0" blurRad="101600" dist="38100" dir="5400000">
              <a:srgbClr val="000000">
                <a:alpha val="10000"/>
              </a:srgbClr>
            </a:outerShdw>
          </a:effectLst>
        </p:spPr>
      </p:sp>
      <p:sp>
        <p:nvSpPr>
          <p:cNvPr id="6" name="Text 3"/>
          <p:cNvSpPr/>
          <p:nvPr/>
        </p:nvSpPr>
        <p:spPr>
          <a:xfrm>
            <a:off x="6995160" y="2121408"/>
            <a:ext cx="4480560" cy="365760"/>
          </a:xfrm>
          <a:prstGeom prst="rect">
            <a:avLst/>
          </a:prstGeom>
          <a:noFill/>
          <a:ln/>
        </p:spPr>
        <p:txBody>
          <a:bodyPr wrap="square" lIns="0" tIns="0" rIns="0" bIns="0" rtlCol="0" anchor="ctr"/>
          <a:lstStyle/>
          <a:p>
            <a:pPr indent="0" marL="0">
              <a:buNone/>
            </a:pPr>
            <a:r>
              <a:rPr lang="en-US" sz="1400" b="1" dirty="0">
                <a:solidFill>
                  <a:srgbClr val="9A2A2A"/>
                </a:solidFill>
                <a:latin typeface="Arial" pitchFamily="34" charset="0"/>
                <a:ea typeface="Arial" pitchFamily="34" charset="-122"/>
                <a:cs typeface="Arial" pitchFamily="34" charset="-120"/>
              </a:rPr>
              <a:t>R1  High</a:t>
            </a:r>
            <a:endParaRPr lang="en-US" sz="1400" dirty="0"/>
          </a:p>
        </p:txBody>
      </p:sp>
      <p:sp>
        <p:nvSpPr>
          <p:cNvPr id="7" name="Text 4"/>
          <p:cNvSpPr/>
          <p:nvPr/>
        </p:nvSpPr>
        <p:spPr>
          <a:xfrm>
            <a:off x="6995160" y="2468880"/>
            <a:ext cx="3291840" cy="594360"/>
          </a:xfrm>
          <a:prstGeom prst="rect">
            <a:avLst/>
          </a:prstGeom>
          <a:noFill/>
          <a:ln/>
        </p:spPr>
        <p:txBody>
          <a:bodyPr wrap="square" lIns="0" tIns="0" rIns="0" bIns="0" rtlCol="0" anchor="t"/>
          <a:lstStyle/>
          <a:p>
            <a:pPr indent="0" marL="0">
              <a:buNone/>
            </a:pPr>
            <a:r>
              <a:rPr lang="en-US" sz="1250" dirty="0">
                <a:solidFill>
                  <a:srgbClr val="1B2A38"/>
                </a:solidFill>
                <a:latin typeface="Arial" pitchFamily="34" charset="0"/>
                <a:ea typeface="Arial" pitchFamily="34" charset="-122"/>
                <a:cs typeface="Arial" pitchFamily="34" charset="-120"/>
              </a:rPr>
              <a:t>Regulatory and antitrust</a:t>
            </a:r>
            <a:endParaRPr lang="en-US" sz="1250" dirty="0"/>
          </a:p>
        </p:txBody>
      </p:sp>
      <p:sp>
        <p:nvSpPr>
          <p:cNvPr id="8" name="Text 5"/>
          <p:cNvSpPr/>
          <p:nvPr/>
        </p:nvSpPr>
        <p:spPr>
          <a:xfrm>
            <a:off x="10241280" y="2423160"/>
            <a:ext cx="1280160" cy="457200"/>
          </a:xfrm>
          <a:prstGeom prst="rect">
            <a:avLst/>
          </a:prstGeom>
          <a:noFill/>
          <a:ln/>
        </p:spPr>
        <p:txBody>
          <a:bodyPr wrap="square" lIns="0" tIns="0" rIns="0" bIns="0" rtlCol="0" anchor="ctr"/>
          <a:lstStyle/>
          <a:p>
            <a:pPr algn="r" indent="0" marL="0">
              <a:buNone/>
            </a:pPr>
            <a:r>
              <a:rPr lang="en-US" sz="1300" b="1" dirty="0">
                <a:solidFill>
                  <a:srgbClr val="1F4E78"/>
                </a:solidFill>
                <a:latin typeface="Arial" pitchFamily="34" charset="0"/>
                <a:ea typeface="Arial" pitchFamily="34" charset="-122"/>
                <a:cs typeface="Arial" pitchFamily="34" charset="-120"/>
              </a:rPr>
              <a:t>7 x 9 = 63</a:t>
            </a:r>
            <a:endParaRPr lang="en-US" sz="1300" dirty="0"/>
          </a:p>
        </p:txBody>
      </p:sp>
      <p:sp>
        <p:nvSpPr>
          <p:cNvPr id="9" name="Shape 6"/>
          <p:cNvSpPr/>
          <p:nvPr/>
        </p:nvSpPr>
        <p:spPr>
          <a:xfrm>
            <a:off x="6812280" y="3291840"/>
            <a:ext cx="4800600" cy="1143000"/>
          </a:xfrm>
          <a:prstGeom prst="roundRect">
            <a:avLst>
              <a:gd name="adj" fmla="val 7200"/>
            </a:avLst>
          </a:prstGeom>
          <a:solidFill>
            <a:srgbClr val="FFFFFF"/>
          </a:solidFill>
          <a:ln/>
          <a:effectLst>
            <a:outerShdw sx="100000" sy="100000" kx="0" ky="0" algn="bl" rotWithShape="0" blurRad="101600" dist="38100" dir="5400000">
              <a:srgbClr val="000000">
                <a:alpha val="10000"/>
              </a:srgbClr>
            </a:outerShdw>
          </a:effectLst>
        </p:spPr>
      </p:sp>
      <p:sp>
        <p:nvSpPr>
          <p:cNvPr id="10" name="Text 7"/>
          <p:cNvSpPr/>
          <p:nvPr/>
        </p:nvSpPr>
        <p:spPr>
          <a:xfrm>
            <a:off x="6995160" y="3401568"/>
            <a:ext cx="4480560" cy="365760"/>
          </a:xfrm>
          <a:prstGeom prst="rect">
            <a:avLst/>
          </a:prstGeom>
          <a:noFill/>
          <a:ln/>
        </p:spPr>
        <p:txBody>
          <a:bodyPr wrap="square" lIns="0" tIns="0" rIns="0" bIns="0" rtlCol="0" anchor="ctr"/>
          <a:lstStyle/>
          <a:p>
            <a:pPr indent="0" marL="0">
              <a:buNone/>
            </a:pPr>
            <a:r>
              <a:rPr lang="en-US" sz="1400" b="1" dirty="0">
                <a:solidFill>
                  <a:srgbClr val="9A2A2A"/>
                </a:solidFill>
                <a:latin typeface="Arial" pitchFamily="34" charset="0"/>
                <a:ea typeface="Arial" pitchFamily="34" charset="-122"/>
                <a:cs typeface="Arial" pitchFamily="34" charset="-120"/>
              </a:rPr>
              <a:t>R2  High</a:t>
            </a:r>
            <a:endParaRPr lang="en-US" sz="1400" dirty="0"/>
          </a:p>
        </p:txBody>
      </p:sp>
      <p:sp>
        <p:nvSpPr>
          <p:cNvPr id="11" name="Text 8"/>
          <p:cNvSpPr/>
          <p:nvPr/>
        </p:nvSpPr>
        <p:spPr>
          <a:xfrm>
            <a:off x="6995160" y="3749040"/>
            <a:ext cx="3291840" cy="594360"/>
          </a:xfrm>
          <a:prstGeom prst="rect">
            <a:avLst/>
          </a:prstGeom>
          <a:noFill/>
          <a:ln/>
        </p:spPr>
        <p:txBody>
          <a:bodyPr wrap="square" lIns="0" tIns="0" rIns="0" bIns="0" rtlCol="0" anchor="t"/>
          <a:lstStyle/>
          <a:p>
            <a:pPr indent="0" marL="0">
              <a:buNone/>
            </a:pPr>
            <a:r>
              <a:rPr lang="en-US" sz="1250" dirty="0">
                <a:solidFill>
                  <a:srgbClr val="1B2A38"/>
                </a:solidFill>
                <a:latin typeface="Arial" pitchFamily="34" charset="0"/>
                <a:ea typeface="Arial" pitchFamily="34" charset="-122"/>
                <a:cs typeface="Arial" pitchFamily="34" charset="-120"/>
              </a:rPr>
              <a:t>Churn and competitive response</a:t>
            </a:r>
            <a:endParaRPr lang="en-US" sz="1250" dirty="0"/>
          </a:p>
        </p:txBody>
      </p:sp>
      <p:sp>
        <p:nvSpPr>
          <p:cNvPr id="12" name="Text 9"/>
          <p:cNvSpPr/>
          <p:nvPr/>
        </p:nvSpPr>
        <p:spPr>
          <a:xfrm>
            <a:off x="10241280" y="3703320"/>
            <a:ext cx="1280160" cy="457200"/>
          </a:xfrm>
          <a:prstGeom prst="rect">
            <a:avLst/>
          </a:prstGeom>
          <a:noFill/>
          <a:ln/>
        </p:spPr>
        <p:txBody>
          <a:bodyPr wrap="square" lIns="0" tIns="0" rIns="0" bIns="0" rtlCol="0" anchor="ctr"/>
          <a:lstStyle/>
          <a:p>
            <a:pPr algn="r" indent="0" marL="0">
              <a:buNone/>
            </a:pPr>
            <a:r>
              <a:rPr lang="en-US" sz="1300" b="1" dirty="0">
                <a:solidFill>
                  <a:srgbClr val="1F4E78"/>
                </a:solidFill>
                <a:latin typeface="Arial" pitchFamily="34" charset="0"/>
                <a:ea typeface="Arial" pitchFamily="34" charset="-122"/>
                <a:cs typeface="Arial" pitchFamily="34" charset="-120"/>
              </a:rPr>
              <a:t>7 x 8 = 56</a:t>
            </a:r>
            <a:endParaRPr lang="en-US" sz="1300" dirty="0"/>
          </a:p>
        </p:txBody>
      </p:sp>
      <p:sp>
        <p:nvSpPr>
          <p:cNvPr id="13" name="Shape 10"/>
          <p:cNvSpPr/>
          <p:nvPr/>
        </p:nvSpPr>
        <p:spPr>
          <a:xfrm>
            <a:off x="6812280" y="4572000"/>
            <a:ext cx="4800600" cy="1143000"/>
          </a:xfrm>
          <a:prstGeom prst="roundRect">
            <a:avLst>
              <a:gd name="adj" fmla="val 7200"/>
            </a:avLst>
          </a:prstGeom>
          <a:solidFill>
            <a:srgbClr val="FFFFFF"/>
          </a:solidFill>
          <a:ln/>
          <a:effectLst>
            <a:outerShdw sx="100000" sy="100000" kx="0" ky="0" algn="bl" rotWithShape="0" blurRad="101600" dist="38100" dir="5400000">
              <a:srgbClr val="000000">
                <a:alpha val="10000"/>
              </a:srgbClr>
            </a:outerShdw>
          </a:effectLst>
        </p:spPr>
      </p:sp>
      <p:sp>
        <p:nvSpPr>
          <p:cNvPr id="14" name="Text 11"/>
          <p:cNvSpPr/>
          <p:nvPr/>
        </p:nvSpPr>
        <p:spPr>
          <a:xfrm>
            <a:off x="6995160" y="4681728"/>
            <a:ext cx="4480560" cy="365760"/>
          </a:xfrm>
          <a:prstGeom prst="rect">
            <a:avLst/>
          </a:prstGeom>
          <a:noFill/>
          <a:ln/>
        </p:spPr>
        <p:txBody>
          <a:bodyPr wrap="square" lIns="0" tIns="0" rIns="0" bIns="0" rtlCol="0" anchor="ctr"/>
          <a:lstStyle/>
          <a:p>
            <a:pPr indent="0" marL="0">
              <a:buNone/>
            </a:pPr>
            <a:r>
              <a:rPr lang="en-US" sz="1400" b="1" dirty="0">
                <a:solidFill>
                  <a:srgbClr val="9C5A00"/>
                </a:solidFill>
                <a:latin typeface="Arial" pitchFamily="34" charset="0"/>
                <a:ea typeface="Arial" pitchFamily="34" charset="-122"/>
                <a:cs typeface="Arial" pitchFamily="34" charset="-120"/>
              </a:rPr>
              <a:t>R3  Medium</a:t>
            </a:r>
            <a:endParaRPr lang="en-US" sz="1400" dirty="0"/>
          </a:p>
        </p:txBody>
      </p:sp>
      <p:sp>
        <p:nvSpPr>
          <p:cNvPr id="15" name="Text 12"/>
          <p:cNvSpPr/>
          <p:nvPr/>
        </p:nvSpPr>
        <p:spPr>
          <a:xfrm>
            <a:off x="6995160" y="5029200"/>
            <a:ext cx="3291840" cy="594360"/>
          </a:xfrm>
          <a:prstGeom prst="rect">
            <a:avLst/>
          </a:prstGeom>
          <a:noFill/>
          <a:ln/>
        </p:spPr>
        <p:txBody>
          <a:bodyPr wrap="square" lIns="0" tIns="0" rIns="0" bIns="0" rtlCol="0" anchor="t"/>
          <a:lstStyle/>
          <a:p>
            <a:pPr indent="0" marL="0">
              <a:buNone/>
            </a:pPr>
            <a:r>
              <a:rPr lang="en-US" sz="1250" dirty="0">
                <a:solidFill>
                  <a:srgbClr val="1B2A38"/>
                </a:solidFill>
                <a:latin typeface="Arial" pitchFamily="34" charset="0"/>
                <a:ea typeface="Arial" pitchFamily="34" charset="-122"/>
                <a:cs typeface="Arial" pitchFamily="34" charset="-120"/>
              </a:rPr>
              <a:t>Cybersecurity and data integration</a:t>
            </a:r>
            <a:endParaRPr lang="en-US" sz="1250" dirty="0"/>
          </a:p>
        </p:txBody>
      </p:sp>
      <p:sp>
        <p:nvSpPr>
          <p:cNvPr id="16" name="Text 13"/>
          <p:cNvSpPr/>
          <p:nvPr/>
        </p:nvSpPr>
        <p:spPr>
          <a:xfrm>
            <a:off x="10241280" y="4983480"/>
            <a:ext cx="1280160" cy="457200"/>
          </a:xfrm>
          <a:prstGeom prst="rect">
            <a:avLst/>
          </a:prstGeom>
          <a:noFill/>
          <a:ln/>
        </p:spPr>
        <p:txBody>
          <a:bodyPr wrap="square" lIns="0" tIns="0" rIns="0" bIns="0" rtlCol="0" anchor="ctr"/>
          <a:lstStyle/>
          <a:p>
            <a:pPr algn="r" indent="0" marL="0">
              <a:buNone/>
            </a:pPr>
            <a:r>
              <a:rPr lang="en-US" sz="1300" b="1" dirty="0">
                <a:solidFill>
                  <a:srgbClr val="1F4E78"/>
                </a:solidFill>
                <a:latin typeface="Arial" pitchFamily="34" charset="0"/>
                <a:ea typeface="Arial" pitchFamily="34" charset="-122"/>
                <a:cs typeface="Arial" pitchFamily="34" charset="-120"/>
              </a:rPr>
              <a:t>5 x 8 = 40</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QUALITATIVE ASSESSMENT</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Scenario and Industry Fusion analytics</a:t>
            </a:r>
            <a:endParaRPr lang="en-US" sz="2800" dirty="0"/>
          </a:p>
        </p:txBody>
      </p:sp>
      <p:sp>
        <p:nvSpPr>
          <p:cNvPr id="4" name="Shape 2"/>
          <p:cNvSpPr/>
          <p:nvPr/>
        </p:nvSpPr>
        <p:spPr>
          <a:xfrm>
            <a:off x="548640" y="1737360"/>
            <a:ext cx="5349240" cy="4160520"/>
          </a:xfrm>
          <a:prstGeom prst="roundRect">
            <a:avLst>
              <a:gd name="adj" fmla="val 1978"/>
            </a:avLst>
          </a:prstGeom>
          <a:solidFill>
            <a:srgbClr val="E7F4F6"/>
          </a:solidFill>
          <a:ln/>
          <a:effectLst>
            <a:outerShdw sx="100000" sy="100000" kx="0" ky="0" algn="bl" rotWithShape="0" blurRad="101600" dist="38100" dir="5400000">
              <a:srgbClr val="000000">
                <a:alpha val="10000"/>
              </a:srgbClr>
            </a:outerShdw>
          </a:effectLst>
        </p:spPr>
      </p:sp>
      <p:sp>
        <p:nvSpPr>
          <p:cNvPr id="5" name="Text 3"/>
          <p:cNvSpPr/>
          <p:nvPr/>
        </p:nvSpPr>
        <p:spPr>
          <a:xfrm>
            <a:off x="868680" y="1965960"/>
            <a:ext cx="4663440" cy="411480"/>
          </a:xfrm>
          <a:prstGeom prst="rect">
            <a:avLst/>
          </a:prstGeom>
          <a:noFill/>
          <a:ln/>
        </p:spPr>
        <p:txBody>
          <a:bodyPr wrap="square" lIns="0" tIns="0" rIns="0" bIns="0" rtlCol="0" anchor="ctr"/>
          <a:lstStyle/>
          <a:p>
            <a:pPr indent="0" marL="0">
              <a:buNone/>
            </a:pPr>
            <a:r>
              <a:rPr lang="en-US" sz="1600" b="1" dirty="0">
                <a:solidFill>
                  <a:srgbClr val="1F4E78"/>
                </a:solidFill>
                <a:latin typeface="Arial" pitchFamily="34" charset="0"/>
                <a:ea typeface="Arial" pitchFamily="34" charset="-122"/>
                <a:cs typeface="Arial" pitchFamily="34" charset="-120"/>
              </a:rPr>
              <a:t>Scenario Analytics  (Ch. 22)</a:t>
            </a:r>
            <a:endParaRPr lang="en-US" sz="1600" dirty="0"/>
          </a:p>
        </p:txBody>
      </p:sp>
      <p:sp>
        <p:nvSpPr>
          <p:cNvPr id="6" name="Text 4"/>
          <p:cNvSpPr/>
          <p:nvPr/>
        </p:nvSpPr>
        <p:spPr>
          <a:xfrm>
            <a:off x="868680" y="2468880"/>
            <a:ext cx="4663440" cy="3200400"/>
          </a:xfrm>
          <a:prstGeom prst="rect">
            <a:avLst/>
          </a:prstGeom>
          <a:noFill/>
          <a:ln/>
        </p:spPr>
        <p:txBody>
          <a:bodyPr wrap="square" rtlCol="0" anchor="t"/>
          <a:lstStyle/>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Three futures for the deal</a:t>
            </a:r>
            <a:endParaRPr lang="en-US" sz="1400" dirty="0"/>
          </a:p>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Clean approval</a:t>
            </a:r>
            <a:endParaRPr lang="en-US" sz="1400" dirty="0"/>
          </a:p>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Approval with remedies</a:t>
            </a:r>
            <a:endParaRPr lang="en-US" sz="1400" dirty="0"/>
          </a:p>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A blocked deal</a:t>
            </a:r>
            <a:endParaRPr lang="en-US" sz="1400" dirty="0"/>
          </a:p>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Each risk traced across all three</a:t>
            </a:r>
            <a:endParaRPr lang="en-US" sz="1400" dirty="0"/>
          </a:p>
        </p:txBody>
      </p:sp>
      <p:sp>
        <p:nvSpPr>
          <p:cNvPr id="7" name="Shape 5"/>
          <p:cNvSpPr/>
          <p:nvPr/>
        </p:nvSpPr>
        <p:spPr>
          <a:xfrm>
            <a:off x="6309360" y="1737360"/>
            <a:ext cx="5330952" cy="4160520"/>
          </a:xfrm>
          <a:prstGeom prst="roundRect">
            <a:avLst>
              <a:gd name="adj" fmla="val 1978"/>
            </a:avLst>
          </a:prstGeom>
          <a:solidFill>
            <a:srgbClr val="FBF1DD"/>
          </a:solidFill>
          <a:ln/>
          <a:effectLst>
            <a:outerShdw sx="100000" sy="100000" kx="0" ky="0" algn="bl" rotWithShape="0" blurRad="101600" dist="38100" dir="5400000">
              <a:srgbClr val="000000">
                <a:alpha val="10000"/>
              </a:srgbClr>
            </a:outerShdw>
          </a:effectLst>
        </p:spPr>
      </p:sp>
      <p:sp>
        <p:nvSpPr>
          <p:cNvPr id="8" name="Text 6"/>
          <p:cNvSpPr/>
          <p:nvPr/>
        </p:nvSpPr>
        <p:spPr>
          <a:xfrm>
            <a:off x="6629400" y="1965960"/>
            <a:ext cx="4663440" cy="411480"/>
          </a:xfrm>
          <a:prstGeom prst="rect">
            <a:avLst/>
          </a:prstGeom>
          <a:noFill/>
          <a:ln/>
        </p:spPr>
        <p:txBody>
          <a:bodyPr wrap="square" lIns="0" tIns="0" rIns="0" bIns="0" rtlCol="0" anchor="ctr"/>
          <a:lstStyle/>
          <a:p>
            <a:pPr indent="0" marL="0">
              <a:buNone/>
            </a:pPr>
            <a:r>
              <a:rPr lang="en-US" sz="1600" b="1" dirty="0">
                <a:solidFill>
                  <a:srgbClr val="1F4E78"/>
                </a:solidFill>
                <a:latin typeface="Arial" pitchFamily="34" charset="0"/>
                <a:ea typeface="Arial" pitchFamily="34" charset="-122"/>
                <a:cs typeface="Arial" pitchFamily="34" charset="-120"/>
              </a:rPr>
              <a:t>Industry Fusion Analytics  (Ch. 17)</a:t>
            </a:r>
            <a:endParaRPr lang="en-US" sz="1600" dirty="0"/>
          </a:p>
        </p:txBody>
      </p:sp>
      <p:sp>
        <p:nvSpPr>
          <p:cNvPr id="9" name="Text 7"/>
          <p:cNvSpPr/>
          <p:nvPr/>
        </p:nvSpPr>
        <p:spPr>
          <a:xfrm>
            <a:off x="6629400" y="2468880"/>
            <a:ext cx="4663440" cy="3200400"/>
          </a:xfrm>
          <a:prstGeom prst="rect">
            <a:avLst/>
          </a:prstGeom>
          <a:noFill/>
          <a:ln/>
        </p:spPr>
        <p:txBody>
          <a:bodyPr wrap="square" rtlCol="0" anchor="t"/>
          <a:lstStyle/>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Fuse signals across the industry</a:t>
            </a:r>
            <a:endParaRPr lang="en-US" sz="1400" dirty="0"/>
          </a:p>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Competitor moves and regulator posture</a:t>
            </a:r>
            <a:endParaRPr lang="en-US" sz="1400" dirty="0"/>
          </a:p>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Churn trends and security data</a:t>
            </a:r>
            <a:endParaRPr lang="en-US" sz="1400" dirty="0"/>
          </a:p>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Triangulate, not one source</a:t>
            </a:r>
            <a:endParaRPr lang="en-US" sz="1400" dirty="0"/>
          </a:p>
          <a:p>
            <a:pPr marL="177800" indent="-177800">
              <a:lnSpc>
                <a:spcPct val="104000"/>
              </a:lnSpc>
              <a:spcAft>
                <a:spcPts val="700"/>
              </a:spcAft>
              <a:buSzPct val="100000"/>
              <a:buChar char="•"/>
            </a:pPr>
            <a:r>
              <a:rPr lang="en-US" sz="1400" dirty="0">
                <a:solidFill>
                  <a:srgbClr val="1B2A38"/>
                </a:solidFill>
                <a:latin typeface="Arial" pitchFamily="34" charset="0"/>
                <a:ea typeface="Arial" pitchFamily="34" charset="-122"/>
                <a:cs typeface="Arial" pitchFamily="34" charset="-120"/>
              </a:rPr>
              <a:t>All three risks clear the bar for quantitative work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QUANTITATIVE APPROACH</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Four ways we put numbers on the risk</a:t>
            </a:r>
            <a:endParaRPr lang="en-US" sz="2800" dirty="0"/>
          </a:p>
        </p:txBody>
      </p:sp>
      <p:sp>
        <p:nvSpPr>
          <p:cNvPr id="4" name="Shape 2"/>
          <p:cNvSpPr/>
          <p:nvPr/>
        </p:nvSpPr>
        <p:spPr>
          <a:xfrm>
            <a:off x="548640" y="1737360"/>
            <a:ext cx="5440680" cy="1965960"/>
          </a:xfrm>
          <a:prstGeom prst="roundRect">
            <a:avLst>
              <a:gd name="adj" fmla="val 4186"/>
            </a:avLst>
          </a:prstGeom>
          <a:solidFill>
            <a:srgbClr val="EFF4F9"/>
          </a:solidFill>
          <a:ln/>
          <a:effectLst>
            <a:outerShdw sx="100000" sy="100000" kx="0" ky="0" algn="bl" rotWithShape="0" blurRad="101600" dist="38100" dir="5400000">
              <a:srgbClr val="000000">
                <a:alpha val="10000"/>
              </a:srgbClr>
            </a:outerShdw>
          </a:effectLst>
        </p:spPr>
      </p:sp>
      <p:sp>
        <p:nvSpPr>
          <p:cNvPr id="5" name="Shape 3"/>
          <p:cNvSpPr/>
          <p:nvPr/>
        </p:nvSpPr>
        <p:spPr>
          <a:xfrm>
            <a:off x="822960" y="2029968"/>
            <a:ext cx="457200" cy="457200"/>
          </a:xfrm>
          <a:prstGeom prst="ellipse">
            <a:avLst/>
          </a:prstGeom>
          <a:solidFill>
            <a:srgbClr val="0E9AA7"/>
          </a:solidFill>
          <a:ln/>
        </p:spPr>
      </p:sp>
      <p:sp>
        <p:nvSpPr>
          <p:cNvPr id="6" name="Text 4"/>
          <p:cNvSpPr/>
          <p:nvPr/>
        </p:nvSpPr>
        <p:spPr>
          <a:xfrm>
            <a:off x="822960" y="2029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463040" y="2011680"/>
            <a:ext cx="4389120" cy="502920"/>
          </a:xfrm>
          <a:prstGeom prst="rect">
            <a:avLst/>
          </a:prstGeom>
          <a:noFill/>
          <a:ln/>
        </p:spPr>
        <p:txBody>
          <a:bodyPr wrap="square" lIns="0" tIns="0" rIns="0" bIns="0" rtlCol="0" anchor="ctr"/>
          <a:lstStyle/>
          <a:p>
            <a:pPr indent="0" marL="0">
              <a:buNone/>
            </a:pPr>
            <a:r>
              <a:rPr lang="en-US" sz="1550" b="1" dirty="0">
                <a:solidFill>
                  <a:srgbClr val="1F4E78"/>
                </a:solidFill>
                <a:latin typeface="Arial" pitchFamily="34" charset="0"/>
                <a:ea typeface="Arial" pitchFamily="34" charset="-122"/>
                <a:cs typeface="Arial" pitchFamily="34" charset="-120"/>
              </a:rPr>
              <a:t>Probability distributions</a:t>
            </a:r>
            <a:endParaRPr lang="en-US" sz="1550" dirty="0"/>
          </a:p>
        </p:txBody>
      </p:sp>
      <p:sp>
        <p:nvSpPr>
          <p:cNvPr id="8" name="Text 6"/>
          <p:cNvSpPr/>
          <p:nvPr/>
        </p:nvSpPr>
        <p:spPr>
          <a:xfrm>
            <a:off x="841248" y="2697480"/>
            <a:ext cx="4846320" cy="868680"/>
          </a:xfrm>
          <a:prstGeom prst="rect">
            <a:avLst/>
          </a:prstGeom>
          <a:noFill/>
          <a:ln/>
        </p:spPr>
        <p:txBody>
          <a:bodyPr wrap="square" lIns="0" tIns="0" rIns="0" bIns="0" rtlCol="0" anchor="t"/>
          <a:lstStyle/>
          <a:p>
            <a:pPr indent="0" marL="0">
              <a:buNone/>
            </a:pPr>
            <a:r>
              <a:rPr lang="en-US" sz="1300" dirty="0">
                <a:solidFill>
                  <a:srgbClr val="1B2A38"/>
                </a:solidFill>
                <a:latin typeface="Arial" pitchFamily="34" charset="0"/>
                <a:ea typeface="Arial" pitchFamily="34" charset="-122"/>
                <a:cs typeface="Arial" pitchFamily="34" charset="-120"/>
              </a:rPr>
              <a:t>Expected loss, variance, and exposure for each risk</a:t>
            </a:r>
            <a:endParaRPr lang="en-US" sz="1300" dirty="0"/>
          </a:p>
        </p:txBody>
      </p:sp>
      <p:sp>
        <p:nvSpPr>
          <p:cNvPr id="9" name="Shape 7"/>
          <p:cNvSpPr/>
          <p:nvPr/>
        </p:nvSpPr>
        <p:spPr>
          <a:xfrm>
            <a:off x="6172200" y="1737360"/>
            <a:ext cx="5440680" cy="1965960"/>
          </a:xfrm>
          <a:prstGeom prst="roundRect">
            <a:avLst>
              <a:gd name="adj" fmla="val 4186"/>
            </a:avLst>
          </a:prstGeom>
          <a:solidFill>
            <a:srgbClr val="EFF4F9"/>
          </a:solidFill>
          <a:ln/>
          <a:effectLst>
            <a:outerShdw sx="100000" sy="100000" kx="0" ky="0" algn="bl" rotWithShape="0" blurRad="101600" dist="38100" dir="5400000">
              <a:srgbClr val="000000">
                <a:alpha val="10000"/>
              </a:srgbClr>
            </a:outerShdw>
          </a:effectLst>
        </p:spPr>
      </p:sp>
      <p:sp>
        <p:nvSpPr>
          <p:cNvPr id="10" name="Shape 8"/>
          <p:cNvSpPr/>
          <p:nvPr/>
        </p:nvSpPr>
        <p:spPr>
          <a:xfrm>
            <a:off x="6446520" y="2029968"/>
            <a:ext cx="457200" cy="457200"/>
          </a:xfrm>
          <a:prstGeom prst="ellipse">
            <a:avLst/>
          </a:prstGeom>
          <a:solidFill>
            <a:srgbClr val="1F4E78"/>
          </a:solidFill>
          <a:ln/>
        </p:spPr>
      </p:sp>
      <p:sp>
        <p:nvSpPr>
          <p:cNvPr id="11" name="Text 9"/>
          <p:cNvSpPr/>
          <p:nvPr/>
        </p:nvSpPr>
        <p:spPr>
          <a:xfrm>
            <a:off x="6446520" y="2029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7086600" y="2011680"/>
            <a:ext cx="4389120" cy="502920"/>
          </a:xfrm>
          <a:prstGeom prst="rect">
            <a:avLst/>
          </a:prstGeom>
          <a:noFill/>
          <a:ln/>
        </p:spPr>
        <p:txBody>
          <a:bodyPr wrap="square" lIns="0" tIns="0" rIns="0" bIns="0" rtlCol="0" anchor="ctr"/>
          <a:lstStyle/>
          <a:p>
            <a:pPr indent="0" marL="0">
              <a:buNone/>
            </a:pPr>
            <a:r>
              <a:rPr lang="en-US" sz="1550" b="1" dirty="0">
                <a:solidFill>
                  <a:srgbClr val="1F4E78"/>
                </a:solidFill>
                <a:latin typeface="Arial" pitchFamily="34" charset="0"/>
                <a:ea typeface="Arial" pitchFamily="34" charset="-122"/>
                <a:cs typeface="Arial" pitchFamily="34" charset="-120"/>
              </a:rPr>
              <a:t>Machine learning prediction</a:t>
            </a:r>
            <a:endParaRPr lang="en-US" sz="1550" dirty="0"/>
          </a:p>
        </p:txBody>
      </p:sp>
      <p:sp>
        <p:nvSpPr>
          <p:cNvPr id="13" name="Text 11"/>
          <p:cNvSpPr/>
          <p:nvPr/>
        </p:nvSpPr>
        <p:spPr>
          <a:xfrm>
            <a:off x="6464808" y="2697480"/>
            <a:ext cx="4846320" cy="868680"/>
          </a:xfrm>
          <a:prstGeom prst="rect">
            <a:avLst/>
          </a:prstGeom>
          <a:noFill/>
          <a:ln/>
        </p:spPr>
        <p:txBody>
          <a:bodyPr wrap="square" lIns="0" tIns="0" rIns="0" bIns="0" rtlCol="0" anchor="t"/>
          <a:lstStyle/>
          <a:p>
            <a:pPr indent="0" marL="0">
              <a:buNone/>
            </a:pPr>
            <a:r>
              <a:rPr lang="en-US" sz="1300" dirty="0">
                <a:solidFill>
                  <a:srgbClr val="1B2A38"/>
                </a:solidFill>
                <a:latin typeface="Arial" pitchFamily="34" charset="0"/>
                <a:ea typeface="Arial" pitchFamily="34" charset="-122"/>
                <a:cs typeface="Arial" pitchFamily="34" charset="-120"/>
              </a:rPr>
              <a:t>A churn model built on the Key Risk Indicators</a:t>
            </a:r>
            <a:endParaRPr lang="en-US" sz="1300" dirty="0"/>
          </a:p>
        </p:txBody>
      </p:sp>
      <p:sp>
        <p:nvSpPr>
          <p:cNvPr id="14" name="Shape 12"/>
          <p:cNvSpPr/>
          <p:nvPr/>
        </p:nvSpPr>
        <p:spPr>
          <a:xfrm>
            <a:off x="548640" y="3886200"/>
            <a:ext cx="5440680" cy="1965960"/>
          </a:xfrm>
          <a:prstGeom prst="roundRect">
            <a:avLst>
              <a:gd name="adj" fmla="val 4186"/>
            </a:avLst>
          </a:prstGeom>
          <a:solidFill>
            <a:srgbClr val="EFF4F9"/>
          </a:solidFill>
          <a:ln/>
          <a:effectLst>
            <a:outerShdw sx="100000" sy="100000" kx="0" ky="0" algn="bl" rotWithShape="0" blurRad="101600" dist="38100" dir="5400000">
              <a:srgbClr val="000000">
                <a:alpha val="10000"/>
              </a:srgbClr>
            </a:outerShdw>
          </a:effectLst>
        </p:spPr>
      </p:sp>
      <p:sp>
        <p:nvSpPr>
          <p:cNvPr id="15" name="Shape 13"/>
          <p:cNvSpPr/>
          <p:nvPr/>
        </p:nvSpPr>
        <p:spPr>
          <a:xfrm>
            <a:off x="822960" y="4178808"/>
            <a:ext cx="457200" cy="457200"/>
          </a:xfrm>
          <a:prstGeom prst="ellipse">
            <a:avLst/>
          </a:prstGeom>
          <a:solidFill>
            <a:srgbClr val="D99A2B"/>
          </a:solidFill>
          <a:ln/>
        </p:spPr>
      </p:sp>
      <p:sp>
        <p:nvSpPr>
          <p:cNvPr id="16" name="Text 14"/>
          <p:cNvSpPr/>
          <p:nvPr/>
        </p:nvSpPr>
        <p:spPr>
          <a:xfrm>
            <a:off x="822960" y="4178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463040" y="4160520"/>
            <a:ext cx="4389120" cy="502920"/>
          </a:xfrm>
          <a:prstGeom prst="rect">
            <a:avLst/>
          </a:prstGeom>
          <a:noFill/>
          <a:ln/>
        </p:spPr>
        <p:txBody>
          <a:bodyPr wrap="square" lIns="0" tIns="0" rIns="0" bIns="0" rtlCol="0" anchor="ctr"/>
          <a:lstStyle/>
          <a:p>
            <a:pPr indent="0" marL="0">
              <a:buNone/>
            </a:pPr>
            <a:r>
              <a:rPr lang="en-US" sz="1550" b="1" dirty="0">
                <a:solidFill>
                  <a:srgbClr val="1F4E78"/>
                </a:solidFill>
                <a:latin typeface="Arial" pitchFamily="34" charset="0"/>
                <a:ea typeface="Arial" pitchFamily="34" charset="-122"/>
                <a:cs typeface="Arial" pitchFamily="34" charset="-120"/>
              </a:rPr>
              <a:t>Monte Carlo simulation</a:t>
            </a:r>
            <a:endParaRPr lang="en-US" sz="1550" dirty="0"/>
          </a:p>
        </p:txBody>
      </p:sp>
      <p:sp>
        <p:nvSpPr>
          <p:cNvPr id="18" name="Text 16"/>
          <p:cNvSpPr/>
          <p:nvPr/>
        </p:nvSpPr>
        <p:spPr>
          <a:xfrm>
            <a:off x="841248" y="4846320"/>
            <a:ext cx="4846320" cy="868680"/>
          </a:xfrm>
          <a:prstGeom prst="rect">
            <a:avLst/>
          </a:prstGeom>
          <a:noFill/>
          <a:ln/>
        </p:spPr>
        <p:txBody>
          <a:bodyPr wrap="square" lIns="0" tIns="0" rIns="0" bIns="0" rtlCol="0" anchor="t"/>
          <a:lstStyle/>
          <a:p>
            <a:pPr indent="0" marL="0">
              <a:buNone/>
            </a:pPr>
            <a:r>
              <a:rPr lang="en-US" sz="1300" dirty="0">
                <a:solidFill>
                  <a:srgbClr val="1B2A38"/>
                </a:solidFill>
                <a:latin typeface="Arial" pitchFamily="34" charset="0"/>
                <a:ea typeface="Arial" pitchFamily="34" charset="-122"/>
                <a:cs typeface="Arial" pitchFamily="34" charset="-120"/>
              </a:rPr>
              <a:t>50,000 trials per risk to map the spread of outcomes</a:t>
            </a:r>
            <a:endParaRPr lang="en-US" sz="1300" dirty="0"/>
          </a:p>
        </p:txBody>
      </p:sp>
      <p:sp>
        <p:nvSpPr>
          <p:cNvPr id="19" name="Shape 17"/>
          <p:cNvSpPr/>
          <p:nvPr/>
        </p:nvSpPr>
        <p:spPr>
          <a:xfrm>
            <a:off x="6172200" y="3886200"/>
            <a:ext cx="5440680" cy="1965960"/>
          </a:xfrm>
          <a:prstGeom prst="roundRect">
            <a:avLst>
              <a:gd name="adj" fmla="val 4186"/>
            </a:avLst>
          </a:prstGeom>
          <a:solidFill>
            <a:srgbClr val="EFF4F9"/>
          </a:solidFill>
          <a:ln/>
          <a:effectLst>
            <a:outerShdw sx="100000" sy="100000" kx="0" ky="0" algn="bl" rotWithShape="0" blurRad="101600" dist="38100" dir="5400000">
              <a:srgbClr val="000000">
                <a:alpha val="10000"/>
              </a:srgbClr>
            </a:outerShdw>
          </a:effectLst>
        </p:spPr>
      </p:sp>
      <p:sp>
        <p:nvSpPr>
          <p:cNvPr id="20" name="Shape 18"/>
          <p:cNvSpPr/>
          <p:nvPr/>
        </p:nvSpPr>
        <p:spPr>
          <a:xfrm>
            <a:off x="6446520" y="4178808"/>
            <a:ext cx="457200" cy="457200"/>
          </a:xfrm>
          <a:prstGeom prst="ellipse">
            <a:avLst/>
          </a:prstGeom>
          <a:solidFill>
            <a:srgbClr val="0E9AA7"/>
          </a:solidFill>
          <a:ln/>
        </p:spPr>
      </p:sp>
      <p:sp>
        <p:nvSpPr>
          <p:cNvPr id="21" name="Text 19"/>
          <p:cNvSpPr/>
          <p:nvPr/>
        </p:nvSpPr>
        <p:spPr>
          <a:xfrm>
            <a:off x="6446520" y="4178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7086600" y="4160520"/>
            <a:ext cx="4389120" cy="502920"/>
          </a:xfrm>
          <a:prstGeom prst="rect">
            <a:avLst/>
          </a:prstGeom>
          <a:noFill/>
          <a:ln/>
        </p:spPr>
        <p:txBody>
          <a:bodyPr wrap="square" lIns="0" tIns="0" rIns="0" bIns="0" rtlCol="0" anchor="ctr"/>
          <a:lstStyle/>
          <a:p>
            <a:pPr indent="0" marL="0">
              <a:buNone/>
            </a:pPr>
            <a:r>
              <a:rPr lang="en-US" sz="1550" b="1" dirty="0">
                <a:solidFill>
                  <a:srgbClr val="1F4E78"/>
                </a:solidFill>
                <a:latin typeface="Arial" pitchFamily="34" charset="0"/>
                <a:ea typeface="Arial" pitchFamily="34" charset="-122"/>
                <a:cs typeface="Arial" pitchFamily="34" charset="-120"/>
              </a:rPr>
              <a:t>Integrated situation assessment</a:t>
            </a:r>
            <a:endParaRPr lang="en-US" sz="1550" dirty="0"/>
          </a:p>
        </p:txBody>
      </p:sp>
      <p:sp>
        <p:nvSpPr>
          <p:cNvPr id="23" name="Text 21"/>
          <p:cNvSpPr/>
          <p:nvPr/>
        </p:nvSpPr>
        <p:spPr>
          <a:xfrm>
            <a:off x="6464808" y="4846320"/>
            <a:ext cx="4846320" cy="868680"/>
          </a:xfrm>
          <a:prstGeom prst="rect">
            <a:avLst/>
          </a:prstGeom>
          <a:noFill/>
          <a:ln/>
        </p:spPr>
        <p:txBody>
          <a:bodyPr wrap="square" lIns="0" tIns="0" rIns="0" bIns="0" rtlCol="0" anchor="t"/>
          <a:lstStyle/>
          <a:p>
            <a:pPr indent="0" marL="0">
              <a:buNone/>
            </a:pPr>
            <a:r>
              <a:rPr lang="en-US" sz="1300" dirty="0">
                <a:solidFill>
                  <a:srgbClr val="1B2A38"/>
                </a:solidFill>
                <a:latin typeface="Arial" pitchFamily="34" charset="0"/>
                <a:ea typeface="Arial" pitchFamily="34" charset="-122"/>
                <a:cs typeface="Arial" pitchFamily="34" charset="-120"/>
              </a:rPr>
              <a:t>Business and non business factors feed every input</a:t>
            </a:r>
            <a:endParaRPr lang="en-US" sz="1300" dirty="0"/>
          </a:p>
        </p:txBody>
      </p:sp>
      <p:sp>
        <p:nvSpPr>
          <p:cNvPr id="24" name="Text 22"/>
          <p:cNvSpPr/>
          <p:nvPr/>
        </p:nvSpPr>
        <p:spPr>
          <a:xfrm>
            <a:off x="548640" y="6053328"/>
            <a:ext cx="11064240" cy="320040"/>
          </a:xfrm>
          <a:prstGeom prst="rect">
            <a:avLst/>
          </a:prstGeom>
          <a:noFill/>
          <a:ln/>
        </p:spPr>
        <p:txBody>
          <a:bodyPr wrap="square" lIns="0" tIns="0" rIns="0" bIns="0" rtlCol="0" anchor="ctr"/>
          <a:lstStyle/>
          <a:p>
            <a:pPr algn="ctr" indent="0" marL="0">
              <a:buNone/>
            </a:pPr>
            <a:r>
              <a:rPr lang="en-US" sz="1150" i="1" dirty="0">
                <a:solidFill>
                  <a:srgbClr val="5E7183"/>
                </a:solidFill>
                <a:latin typeface="Arial" pitchFamily="34" charset="0"/>
                <a:ea typeface="Arial" pitchFamily="34" charset="-122"/>
                <a:cs typeface="Arial" pitchFamily="34" charset="-120"/>
              </a:rPr>
              <a:t>Synthetic data simulates the business environment, with assumptions stated in the notebooks.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R1  .  REGULATORY AND ANTITRUST</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The regulatory exposure is the largest</a:t>
            </a:r>
            <a:endParaRPr lang="en-US" sz="2800" dirty="0"/>
          </a:p>
        </p:txBody>
      </p:sp>
      <p:pic>
        <p:nvPicPr>
          <p:cNvPr id="4" name="Image 0" descr="/home/claude/erm/figures/r1_regulatory_loss_mc.png">    </p:cNvPr>
          <p:cNvPicPr>
            <a:picLocks noChangeAspect="1"/>
          </p:cNvPicPr>
          <p:nvPr/>
        </p:nvPicPr>
        <p:blipFill>
          <a:blip r:embed="rId1"/>
          <a:stretch>
            <a:fillRect/>
          </a:stretch>
        </p:blipFill>
        <p:spPr>
          <a:xfrm>
            <a:off x="502920" y="1783080"/>
            <a:ext cx="5852160" cy="3994376"/>
          </a:xfrm>
          <a:prstGeom prst="rect">
            <a:avLst/>
          </a:prstGeom>
        </p:spPr>
      </p:pic>
      <p:sp>
        <p:nvSpPr>
          <p:cNvPr id="5" name="Shape 2"/>
          <p:cNvSpPr/>
          <p:nvPr/>
        </p:nvSpPr>
        <p:spPr>
          <a:xfrm>
            <a:off x="6720840" y="1783080"/>
            <a:ext cx="233172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6" name="Text 3"/>
          <p:cNvSpPr/>
          <p:nvPr/>
        </p:nvSpPr>
        <p:spPr>
          <a:xfrm>
            <a:off x="6830568" y="1929384"/>
            <a:ext cx="2112264" cy="713232"/>
          </a:xfrm>
          <a:prstGeom prst="rect">
            <a:avLst/>
          </a:prstGeom>
          <a:noFill/>
          <a:ln/>
        </p:spPr>
        <p:txBody>
          <a:bodyPr wrap="square" lIns="0" tIns="0" rIns="0" bIns="0" rtlCol="0" anchor="ctr"/>
          <a:lstStyle/>
          <a:p>
            <a:pPr algn="ctr" indent="0" marL="0">
              <a:buNone/>
            </a:pPr>
            <a:r>
              <a:rPr lang="en-US" sz="3100" b="1" dirty="0">
                <a:solidFill>
                  <a:srgbClr val="1F4E78"/>
                </a:solidFill>
                <a:latin typeface="Arial" pitchFamily="34" charset="0"/>
                <a:ea typeface="Arial" pitchFamily="34" charset="-122"/>
                <a:cs typeface="Arial" pitchFamily="34" charset="-120"/>
              </a:rPr>
              <a:t>$12.8B</a:t>
            </a:r>
            <a:endParaRPr lang="en-US" sz="3100" dirty="0"/>
          </a:p>
        </p:txBody>
      </p:sp>
      <p:sp>
        <p:nvSpPr>
          <p:cNvPr id="7" name="Text 4"/>
          <p:cNvSpPr/>
          <p:nvPr/>
        </p:nvSpPr>
        <p:spPr>
          <a:xfrm>
            <a:off x="6830568" y="2651760"/>
            <a:ext cx="211226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expected loss</a:t>
            </a:r>
            <a:endParaRPr lang="en-US" sz="1150" dirty="0"/>
          </a:p>
        </p:txBody>
      </p:sp>
      <p:sp>
        <p:nvSpPr>
          <p:cNvPr id="8" name="Shape 5"/>
          <p:cNvSpPr/>
          <p:nvPr/>
        </p:nvSpPr>
        <p:spPr>
          <a:xfrm>
            <a:off x="9235440" y="1783080"/>
            <a:ext cx="233172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9" name="Text 6"/>
          <p:cNvSpPr/>
          <p:nvPr/>
        </p:nvSpPr>
        <p:spPr>
          <a:xfrm>
            <a:off x="9345168" y="1929384"/>
            <a:ext cx="2112264" cy="713232"/>
          </a:xfrm>
          <a:prstGeom prst="rect">
            <a:avLst/>
          </a:prstGeom>
          <a:noFill/>
          <a:ln/>
        </p:spPr>
        <p:txBody>
          <a:bodyPr wrap="square" lIns="0" tIns="0" rIns="0" bIns="0" rtlCol="0" anchor="ctr"/>
          <a:lstStyle/>
          <a:p>
            <a:pPr algn="ctr" indent="0" marL="0">
              <a:buNone/>
            </a:pPr>
            <a:r>
              <a:rPr lang="en-US" sz="3100" b="1" dirty="0">
                <a:solidFill>
                  <a:srgbClr val="D99A2B"/>
                </a:solidFill>
                <a:latin typeface="Arial" pitchFamily="34" charset="0"/>
                <a:ea typeface="Arial" pitchFamily="34" charset="-122"/>
                <a:cs typeface="Arial" pitchFamily="34" charset="-120"/>
              </a:rPr>
              <a:t>$40.9B</a:t>
            </a:r>
            <a:endParaRPr lang="en-US" sz="3100" dirty="0"/>
          </a:p>
        </p:txBody>
      </p:sp>
      <p:sp>
        <p:nvSpPr>
          <p:cNvPr id="10" name="Text 7"/>
          <p:cNvSpPr/>
          <p:nvPr/>
        </p:nvSpPr>
        <p:spPr>
          <a:xfrm>
            <a:off x="9345168" y="2651760"/>
            <a:ext cx="211226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P95 tail loss</a:t>
            </a:r>
            <a:endParaRPr lang="en-US" sz="1150" dirty="0"/>
          </a:p>
        </p:txBody>
      </p:sp>
      <p:sp>
        <p:nvSpPr>
          <p:cNvPr id="11" name="Shape 8"/>
          <p:cNvSpPr/>
          <p:nvPr/>
        </p:nvSpPr>
        <p:spPr>
          <a:xfrm>
            <a:off x="6720840" y="3383280"/>
            <a:ext cx="4846320" cy="2423160"/>
          </a:xfrm>
          <a:prstGeom prst="roundRect">
            <a:avLst>
              <a:gd name="adj" fmla="val 3396"/>
            </a:avLst>
          </a:prstGeom>
          <a:solidFill>
            <a:srgbClr val="F7E4E2"/>
          </a:solidFill>
          <a:ln/>
          <a:effectLst>
            <a:outerShdw sx="100000" sy="100000" kx="0" ky="0" algn="bl" rotWithShape="0" blurRad="101600" dist="38100" dir="5400000">
              <a:srgbClr val="000000">
                <a:alpha val="10000"/>
              </a:srgbClr>
            </a:outerShdw>
          </a:effectLst>
        </p:spPr>
      </p:sp>
      <p:sp>
        <p:nvSpPr>
          <p:cNvPr id="12" name="Text 9"/>
          <p:cNvSpPr/>
          <p:nvPr/>
        </p:nvSpPr>
        <p:spPr>
          <a:xfrm>
            <a:off x="6949440" y="3566160"/>
            <a:ext cx="4389120" cy="365760"/>
          </a:xfrm>
          <a:prstGeom prst="rect">
            <a:avLst/>
          </a:prstGeom>
          <a:noFill/>
          <a:ln/>
        </p:spPr>
        <p:txBody>
          <a:bodyPr wrap="square" lIns="0" tIns="0" rIns="0" bIns="0" rtlCol="0" anchor="ctr"/>
          <a:lstStyle/>
          <a:p>
            <a:pPr indent="0" marL="0">
              <a:buNone/>
            </a:pPr>
            <a:r>
              <a:rPr lang="en-US" sz="1400" b="1" dirty="0">
                <a:solidFill>
                  <a:srgbClr val="1F4E78"/>
                </a:solidFill>
                <a:latin typeface="Arial" pitchFamily="34" charset="0"/>
                <a:ea typeface="Arial" pitchFamily="34" charset="-122"/>
                <a:cs typeface="Arial" pitchFamily="34" charset="-120"/>
              </a:rPr>
              <a:t>Outcomes modeled</a:t>
            </a:r>
            <a:endParaRPr lang="en-US" sz="1400" dirty="0"/>
          </a:p>
        </p:txBody>
      </p:sp>
      <p:sp>
        <p:nvSpPr>
          <p:cNvPr id="13" name="Text 10"/>
          <p:cNvSpPr/>
          <p:nvPr/>
        </p:nvSpPr>
        <p:spPr>
          <a:xfrm>
            <a:off x="6995160" y="3995928"/>
            <a:ext cx="4297680" cy="1691640"/>
          </a:xfrm>
          <a:prstGeom prst="rect">
            <a:avLst/>
          </a:prstGeom>
          <a:noFill/>
          <a:ln/>
        </p:spPr>
        <p:txBody>
          <a:bodyPr wrap="square" rtlCol="0" anchor="t"/>
          <a:lstStyle/>
          <a:p>
            <a:pPr marL="177800" indent="-177800">
              <a:lnSpc>
                <a:spcPct val="104000"/>
              </a:lnSpc>
              <a:spcAft>
                <a:spcPts val="700"/>
              </a:spcAft>
              <a:buSzPct val="100000"/>
              <a:buChar char="•"/>
            </a:pPr>
            <a:r>
              <a:rPr lang="en-US" sz="1300" dirty="0">
                <a:solidFill>
                  <a:srgbClr val="1B2A38"/>
                </a:solidFill>
                <a:latin typeface="Arial" pitchFamily="34" charset="0"/>
                <a:ea typeface="Arial" pitchFamily="34" charset="-122"/>
                <a:cs typeface="Arial" pitchFamily="34" charset="-120"/>
              </a:rPr>
              <a:t>Clean approval 30%, remedies 45%, block 25%</a:t>
            </a:r>
            <a:endParaRPr lang="en-US" sz="1300" dirty="0"/>
          </a:p>
          <a:p>
            <a:pPr marL="177800" indent="-177800">
              <a:lnSpc>
                <a:spcPct val="104000"/>
              </a:lnSpc>
              <a:spcAft>
                <a:spcPts val="700"/>
              </a:spcAft>
              <a:buSzPct val="100000"/>
              <a:buChar char="•"/>
            </a:pPr>
            <a:r>
              <a:rPr lang="en-US" sz="1300" dirty="0">
                <a:solidFill>
                  <a:srgbClr val="1B2A38"/>
                </a:solidFill>
                <a:latin typeface="Arial" pitchFamily="34" charset="0"/>
                <a:ea typeface="Arial" pitchFamily="34" charset="-122"/>
                <a:cs typeface="Arial" pitchFamily="34" charset="-120"/>
              </a:rPr>
              <a:t>Loss is the break fee plus lost synergies</a:t>
            </a:r>
            <a:endParaRPr lang="en-US" sz="1300" dirty="0"/>
          </a:p>
          <a:p>
            <a:pPr marL="177800" indent="-177800">
              <a:lnSpc>
                <a:spcPct val="104000"/>
              </a:lnSpc>
              <a:spcAft>
                <a:spcPts val="700"/>
              </a:spcAft>
              <a:buSzPct val="100000"/>
              <a:buChar char="•"/>
            </a:pPr>
            <a:r>
              <a:rPr lang="en-US" sz="1300" dirty="0">
                <a:solidFill>
                  <a:srgbClr val="1B2A38"/>
                </a:solidFill>
                <a:latin typeface="Arial" pitchFamily="34" charset="0"/>
                <a:ea typeface="Arial" pitchFamily="34" charset="-122"/>
                <a:cs typeface="Arial" pitchFamily="34" charset="-120"/>
              </a:rPr>
              <a:t>Not insurable, since insurance does not cover a block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R2  .  SUBSCRIBER CHURN</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A model that predicts churn from the KRIs</a:t>
            </a:r>
            <a:endParaRPr lang="en-US" sz="2800" dirty="0"/>
          </a:p>
        </p:txBody>
      </p:sp>
      <p:pic>
        <p:nvPicPr>
          <p:cNvPr id="4" name="Image 0" descr="/home/claude/erm/figures/r2_feature_importance.png">    </p:cNvPr>
          <p:cNvPicPr>
            <a:picLocks noChangeAspect="1"/>
          </p:cNvPicPr>
          <p:nvPr/>
        </p:nvPicPr>
        <p:blipFill>
          <a:blip r:embed="rId1"/>
          <a:stretch>
            <a:fillRect/>
          </a:stretch>
        </p:blipFill>
        <p:spPr>
          <a:xfrm>
            <a:off x="502920" y="1783080"/>
            <a:ext cx="5486400" cy="4091580"/>
          </a:xfrm>
          <a:prstGeom prst="rect">
            <a:avLst/>
          </a:prstGeom>
        </p:spPr>
      </p:pic>
      <p:sp>
        <p:nvSpPr>
          <p:cNvPr id="5" name="Shape 2"/>
          <p:cNvSpPr/>
          <p:nvPr/>
        </p:nvSpPr>
        <p:spPr>
          <a:xfrm>
            <a:off x="6355080" y="1783080"/>
            <a:ext cx="251460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6" name="Text 3"/>
          <p:cNvSpPr/>
          <p:nvPr/>
        </p:nvSpPr>
        <p:spPr>
          <a:xfrm>
            <a:off x="6464808" y="1929384"/>
            <a:ext cx="2295144" cy="713232"/>
          </a:xfrm>
          <a:prstGeom prst="rect">
            <a:avLst/>
          </a:prstGeom>
          <a:noFill/>
          <a:ln/>
        </p:spPr>
        <p:txBody>
          <a:bodyPr wrap="square" lIns="0" tIns="0" rIns="0" bIns="0" rtlCol="0" anchor="ctr"/>
          <a:lstStyle/>
          <a:p>
            <a:pPr algn="ctr" indent="0" marL="0">
              <a:buNone/>
            </a:pPr>
            <a:r>
              <a:rPr lang="en-US" sz="3100" b="1" dirty="0">
                <a:solidFill>
                  <a:srgbClr val="0E9AA7"/>
                </a:solidFill>
                <a:latin typeface="Arial" pitchFamily="34" charset="0"/>
                <a:ea typeface="Arial" pitchFamily="34" charset="-122"/>
                <a:cs typeface="Arial" pitchFamily="34" charset="-120"/>
              </a:rPr>
              <a:t>0.71</a:t>
            </a:r>
            <a:endParaRPr lang="en-US" sz="3100" dirty="0"/>
          </a:p>
        </p:txBody>
      </p:sp>
      <p:sp>
        <p:nvSpPr>
          <p:cNvPr id="7" name="Text 4"/>
          <p:cNvSpPr/>
          <p:nvPr/>
        </p:nvSpPr>
        <p:spPr>
          <a:xfrm>
            <a:off x="6464808" y="2651760"/>
            <a:ext cx="229514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churn model AUC</a:t>
            </a:r>
            <a:endParaRPr lang="en-US" sz="1150" dirty="0"/>
          </a:p>
        </p:txBody>
      </p:sp>
      <p:sp>
        <p:nvSpPr>
          <p:cNvPr id="8" name="Shape 5"/>
          <p:cNvSpPr/>
          <p:nvPr/>
        </p:nvSpPr>
        <p:spPr>
          <a:xfrm>
            <a:off x="9070848" y="1783080"/>
            <a:ext cx="251460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9" name="Text 6"/>
          <p:cNvSpPr/>
          <p:nvPr/>
        </p:nvSpPr>
        <p:spPr>
          <a:xfrm>
            <a:off x="9180576" y="1929384"/>
            <a:ext cx="2295144" cy="713232"/>
          </a:xfrm>
          <a:prstGeom prst="rect">
            <a:avLst/>
          </a:prstGeom>
          <a:noFill/>
          <a:ln/>
        </p:spPr>
        <p:txBody>
          <a:bodyPr wrap="square" lIns="0" tIns="0" rIns="0" bIns="0" rtlCol="0" anchor="ctr"/>
          <a:lstStyle/>
          <a:p>
            <a:pPr algn="ctr" indent="0" marL="0">
              <a:buNone/>
            </a:pPr>
            <a:r>
              <a:rPr lang="en-US" sz="3100" b="1" dirty="0">
                <a:solidFill>
                  <a:srgbClr val="1F4E78"/>
                </a:solidFill>
                <a:latin typeface="Arial" pitchFamily="34" charset="0"/>
                <a:ea typeface="Arial" pitchFamily="34" charset="-122"/>
                <a:cs typeface="Arial" pitchFamily="34" charset="-120"/>
              </a:rPr>
              <a:t>$1.9B</a:t>
            </a:r>
            <a:endParaRPr lang="en-US" sz="3100" dirty="0"/>
          </a:p>
        </p:txBody>
      </p:sp>
      <p:sp>
        <p:nvSpPr>
          <p:cNvPr id="10" name="Text 7"/>
          <p:cNvSpPr/>
          <p:nvPr/>
        </p:nvSpPr>
        <p:spPr>
          <a:xfrm>
            <a:off x="9180576" y="2651760"/>
            <a:ext cx="229514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first year revenue at risk</a:t>
            </a:r>
            <a:endParaRPr lang="en-US" sz="1150" dirty="0"/>
          </a:p>
        </p:txBody>
      </p:sp>
      <p:sp>
        <p:nvSpPr>
          <p:cNvPr id="11" name="Shape 8"/>
          <p:cNvSpPr/>
          <p:nvPr/>
        </p:nvSpPr>
        <p:spPr>
          <a:xfrm>
            <a:off x="6355080" y="3383280"/>
            <a:ext cx="5212080" cy="2423160"/>
          </a:xfrm>
          <a:prstGeom prst="roundRect">
            <a:avLst>
              <a:gd name="adj" fmla="val 3396"/>
            </a:avLst>
          </a:prstGeom>
          <a:solidFill>
            <a:srgbClr val="E7F4F6"/>
          </a:solidFill>
          <a:ln/>
          <a:effectLst>
            <a:outerShdw sx="100000" sy="100000" kx="0" ky="0" algn="bl" rotWithShape="0" blurRad="101600" dist="38100" dir="5400000">
              <a:srgbClr val="000000">
                <a:alpha val="10000"/>
              </a:srgbClr>
            </a:outerShdw>
          </a:effectLst>
        </p:spPr>
      </p:sp>
      <p:sp>
        <p:nvSpPr>
          <p:cNvPr id="12" name="Text 9"/>
          <p:cNvSpPr/>
          <p:nvPr/>
        </p:nvSpPr>
        <p:spPr>
          <a:xfrm>
            <a:off x="6583680" y="3566160"/>
            <a:ext cx="4572000" cy="365760"/>
          </a:xfrm>
          <a:prstGeom prst="rect">
            <a:avLst/>
          </a:prstGeom>
          <a:noFill/>
          <a:ln/>
        </p:spPr>
        <p:txBody>
          <a:bodyPr wrap="square" lIns="0" tIns="0" rIns="0" bIns="0" rtlCol="0" anchor="ctr"/>
          <a:lstStyle/>
          <a:p>
            <a:pPr indent="0" marL="0">
              <a:buNone/>
            </a:pPr>
            <a:r>
              <a:rPr lang="en-US" sz="1400" b="1" dirty="0">
                <a:solidFill>
                  <a:srgbClr val="1F4E78"/>
                </a:solidFill>
                <a:latin typeface="Arial" pitchFamily="34" charset="0"/>
                <a:ea typeface="Arial" pitchFamily="34" charset="-122"/>
                <a:cs typeface="Arial" pitchFamily="34" charset="-120"/>
              </a:rPr>
              <a:t>What it tells us</a:t>
            </a:r>
            <a:endParaRPr lang="en-US" sz="1400" dirty="0"/>
          </a:p>
        </p:txBody>
      </p:sp>
      <p:sp>
        <p:nvSpPr>
          <p:cNvPr id="13" name="Text 10"/>
          <p:cNvSpPr/>
          <p:nvPr/>
        </p:nvSpPr>
        <p:spPr>
          <a:xfrm>
            <a:off x="6629400" y="3995928"/>
            <a:ext cx="4663440" cy="1783080"/>
          </a:xfrm>
          <a:prstGeom prst="rect">
            <a:avLst/>
          </a:prstGeom>
          <a:noFill/>
          <a:ln/>
        </p:spPr>
        <p:txBody>
          <a:bodyPr wrap="square" rtlCol="0" anchor="t"/>
          <a:lstStyle/>
          <a:p>
            <a:pPr marL="177800" indent="-177800">
              <a:lnSpc>
                <a:spcPct val="104000"/>
              </a:lnSpc>
              <a:spcAft>
                <a:spcPts val="700"/>
              </a:spcAft>
              <a:buSzPct val="100000"/>
              <a:buChar char="•"/>
            </a:pPr>
            <a:r>
              <a:rPr lang="en-US" sz="1300" dirty="0">
                <a:solidFill>
                  <a:srgbClr val="1B2A38"/>
                </a:solidFill>
                <a:latin typeface="Arial" pitchFamily="34" charset="0"/>
                <a:ea typeface="Arial" pitchFamily="34" charset="-122"/>
                <a:cs typeface="Arial" pitchFamily="34" charset="-120"/>
              </a:rPr>
              <a:t>Top drivers are the same quantities we track as KRIs</a:t>
            </a:r>
            <a:endParaRPr lang="en-US" sz="1300" dirty="0"/>
          </a:p>
          <a:p>
            <a:pPr marL="177800" indent="-177800">
              <a:lnSpc>
                <a:spcPct val="104000"/>
              </a:lnSpc>
              <a:spcAft>
                <a:spcPts val="700"/>
              </a:spcAft>
              <a:buSzPct val="100000"/>
              <a:buChar char="•"/>
            </a:pPr>
            <a:r>
              <a:rPr lang="en-US" sz="1300" dirty="0">
                <a:solidFill>
                  <a:srgbClr val="1B2A38"/>
                </a:solidFill>
                <a:latin typeface="Arial" pitchFamily="34" charset="0"/>
                <a:ea typeface="Arial" pitchFamily="34" charset="-122"/>
                <a:cs typeface="Arial" pitchFamily="34" charset="-120"/>
              </a:rPr>
              <a:t>Content cost, price increases, tenure, and engagement</a:t>
            </a:r>
            <a:endParaRPr lang="en-US" sz="1300" dirty="0"/>
          </a:p>
          <a:p>
            <a:pPr marL="177800" indent="-177800">
              <a:lnSpc>
                <a:spcPct val="104000"/>
              </a:lnSpc>
              <a:spcAft>
                <a:spcPts val="700"/>
              </a:spcAft>
              <a:buSzPct val="100000"/>
              <a:buChar char="•"/>
            </a:pPr>
            <a:r>
              <a:rPr lang="en-US" sz="1300" dirty="0">
                <a:solidFill>
                  <a:srgbClr val="1B2A38"/>
                </a:solidFill>
                <a:latin typeface="Arial" pitchFamily="34" charset="0"/>
                <a:ea typeface="Arial" pitchFamily="34" charset="-122"/>
                <a:cs typeface="Arial" pitchFamily="34" charset="-120"/>
              </a:rPr>
              <a:t>Monte Carlo on churn puts the P95 revenue loss near $4.4B</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R3  .  CYBERSECURITY</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A FAIR loss model with a heavy tail</a:t>
            </a:r>
            <a:endParaRPr lang="en-US" sz="2800" dirty="0"/>
          </a:p>
        </p:txBody>
      </p:sp>
      <p:pic>
        <p:nvPicPr>
          <p:cNvPr id="4" name="Image 0" descr="/home/claude/erm/figures/r3_cyber_ale_mc.png">    </p:cNvPr>
          <p:cNvPicPr>
            <a:picLocks noChangeAspect="1"/>
          </p:cNvPicPr>
          <p:nvPr/>
        </p:nvPicPr>
        <p:blipFill>
          <a:blip r:embed="rId1"/>
          <a:stretch>
            <a:fillRect/>
          </a:stretch>
        </p:blipFill>
        <p:spPr>
          <a:xfrm>
            <a:off x="502920" y="1783080"/>
            <a:ext cx="5852160" cy="3994376"/>
          </a:xfrm>
          <a:prstGeom prst="rect">
            <a:avLst/>
          </a:prstGeom>
        </p:spPr>
      </p:pic>
      <p:sp>
        <p:nvSpPr>
          <p:cNvPr id="5" name="Shape 2"/>
          <p:cNvSpPr/>
          <p:nvPr/>
        </p:nvSpPr>
        <p:spPr>
          <a:xfrm>
            <a:off x="6720840" y="1783080"/>
            <a:ext cx="233172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6" name="Text 3"/>
          <p:cNvSpPr/>
          <p:nvPr/>
        </p:nvSpPr>
        <p:spPr>
          <a:xfrm>
            <a:off x="6830568" y="1929384"/>
            <a:ext cx="2112264" cy="713232"/>
          </a:xfrm>
          <a:prstGeom prst="rect">
            <a:avLst/>
          </a:prstGeom>
          <a:noFill/>
          <a:ln/>
        </p:spPr>
        <p:txBody>
          <a:bodyPr wrap="square" lIns="0" tIns="0" rIns="0" bIns="0" rtlCol="0" anchor="ctr"/>
          <a:lstStyle/>
          <a:p>
            <a:pPr algn="ctr" indent="0" marL="0">
              <a:buNone/>
            </a:pPr>
            <a:r>
              <a:rPr lang="en-US" sz="3100" b="1" dirty="0">
                <a:solidFill>
                  <a:srgbClr val="1F4E78"/>
                </a:solidFill>
                <a:latin typeface="Arial" pitchFamily="34" charset="0"/>
                <a:ea typeface="Arial" pitchFamily="34" charset="-122"/>
                <a:cs typeface="Arial" pitchFamily="34" charset="-120"/>
              </a:rPr>
              <a:t>$0.20B</a:t>
            </a:r>
            <a:endParaRPr lang="en-US" sz="3100" dirty="0"/>
          </a:p>
        </p:txBody>
      </p:sp>
      <p:sp>
        <p:nvSpPr>
          <p:cNvPr id="7" name="Text 4"/>
          <p:cNvSpPr/>
          <p:nvPr/>
        </p:nvSpPr>
        <p:spPr>
          <a:xfrm>
            <a:off x="6830568" y="2651760"/>
            <a:ext cx="211226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expected annual loss</a:t>
            </a:r>
            <a:endParaRPr lang="en-US" sz="1150" dirty="0"/>
          </a:p>
        </p:txBody>
      </p:sp>
      <p:sp>
        <p:nvSpPr>
          <p:cNvPr id="8" name="Shape 5"/>
          <p:cNvSpPr/>
          <p:nvPr/>
        </p:nvSpPr>
        <p:spPr>
          <a:xfrm>
            <a:off x="9235440" y="1783080"/>
            <a:ext cx="2331720" cy="1371600"/>
          </a:xfrm>
          <a:prstGeom prst="roundRect">
            <a:avLst>
              <a:gd name="adj" fmla="val 6000"/>
            </a:avLst>
          </a:prstGeom>
          <a:solidFill>
            <a:srgbClr val="FFFFFF"/>
          </a:solidFill>
          <a:ln/>
          <a:effectLst>
            <a:outerShdw sx="100000" sy="100000" kx="0" ky="0" algn="bl" rotWithShape="0" blurRad="101600" dist="38100" dir="5400000">
              <a:srgbClr val="000000">
                <a:alpha val="10000"/>
              </a:srgbClr>
            </a:outerShdw>
          </a:effectLst>
        </p:spPr>
      </p:sp>
      <p:sp>
        <p:nvSpPr>
          <p:cNvPr id="9" name="Text 6"/>
          <p:cNvSpPr/>
          <p:nvPr/>
        </p:nvSpPr>
        <p:spPr>
          <a:xfrm>
            <a:off x="9345168" y="1929384"/>
            <a:ext cx="2112264" cy="713232"/>
          </a:xfrm>
          <a:prstGeom prst="rect">
            <a:avLst/>
          </a:prstGeom>
          <a:noFill/>
          <a:ln/>
        </p:spPr>
        <p:txBody>
          <a:bodyPr wrap="square" lIns="0" tIns="0" rIns="0" bIns="0" rtlCol="0" anchor="ctr"/>
          <a:lstStyle/>
          <a:p>
            <a:pPr algn="ctr" indent="0" marL="0">
              <a:buNone/>
            </a:pPr>
            <a:r>
              <a:rPr lang="en-US" sz="3100" b="1" dirty="0">
                <a:solidFill>
                  <a:srgbClr val="D99A2B"/>
                </a:solidFill>
                <a:latin typeface="Arial" pitchFamily="34" charset="0"/>
                <a:ea typeface="Arial" pitchFamily="34" charset="-122"/>
                <a:cs typeface="Arial" pitchFamily="34" charset="-120"/>
              </a:rPr>
              <a:t>$1.41B</a:t>
            </a:r>
            <a:endParaRPr lang="en-US" sz="3100" dirty="0"/>
          </a:p>
        </p:txBody>
      </p:sp>
      <p:sp>
        <p:nvSpPr>
          <p:cNvPr id="10" name="Text 7"/>
          <p:cNvSpPr/>
          <p:nvPr/>
        </p:nvSpPr>
        <p:spPr>
          <a:xfrm>
            <a:off x="9345168" y="2651760"/>
            <a:ext cx="2112264" cy="384048"/>
          </a:xfrm>
          <a:prstGeom prst="rect">
            <a:avLst/>
          </a:prstGeom>
          <a:noFill/>
          <a:ln/>
        </p:spPr>
        <p:txBody>
          <a:bodyPr wrap="square" lIns="0" tIns="0" rIns="0" bIns="0" rtlCol="0" anchor="t"/>
          <a:lstStyle/>
          <a:p>
            <a:pPr algn="ctr" indent="0" marL="0">
              <a:buNone/>
            </a:pPr>
            <a:r>
              <a:rPr lang="en-US" sz="1150" dirty="0">
                <a:solidFill>
                  <a:srgbClr val="5E7183"/>
                </a:solidFill>
                <a:latin typeface="Arial" pitchFamily="34" charset="0"/>
                <a:ea typeface="Arial" pitchFamily="34" charset="-122"/>
                <a:cs typeface="Arial" pitchFamily="34" charset="-120"/>
              </a:rPr>
              <a:t>P99 tail loss</a:t>
            </a:r>
            <a:endParaRPr lang="en-US" sz="1150" dirty="0"/>
          </a:p>
        </p:txBody>
      </p:sp>
      <p:sp>
        <p:nvSpPr>
          <p:cNvPr id="11" name="Shape 8"/>
          <p:cNvSpPr/>
          <p:nvPr/>
        </p:nvSpPr>
        <p:spPr>
          <a:xfrm>
            <a:off x="6720840" y="3383280"/>
            <a:ext cx="4846320" cy="2423160"/>
          </a:xfrm>
          <a:prstGeom prst="roundRect">
            <a:avLst>
              <a:gd name="adj" fmla="val 3396"/>
            </a:avLst>
          </a:prstGeom>
          <a:solidFill>
            <a:srgbClr val="FBF1DD"/>
          </a:solidFill>
          <a:ln/>
          <a:effectLst>
            <a:outerShdw sx="100000" sy="100000" kx="0" ky="0" algn="bl" rotWithShape="0" blurRad="101600" dist="38100" dir="5400000">
              <a:srgbClr val="000000">
                <a:alpha val="10000"/>
              </a:srgbClr>
            </a:outerShdw>
          </a:effectLst>
        </p:spPr>
      </p:sp>
      <p:sp>
        <p:nvSpPr>
          <p:cNvPr id="12" name="Text 9"/>
          <p:cNvSpPr/>
          <p:nvPr/>
        </p:nvSpPr>
        <p:spPr>
          <a:xfrm>
            <a:off x="6949440" y="3566160"/>
            <a:ext cx="4389120" cy="365760"/>
          </a:xfrm>
          <a:prstGeom prst="rect">
            <a:avLst/>
          </a:prstGeom>
          <a:noFill/>
          <a:ln/>
        </p:spPr>
        <p:txBody>
          <a:bodyPr wrap="square" lIns="0" tIns="0" rIns="0" bIns="0" rtlCol="0" anchor="ctr"/>
          <a:lstStyle/>
          <a:p>
            <a:pPr indent="0" marL="0">
              <a:buNone/>
            </a:pPr>
            <a:r>
              <a:rPr lang="en-US" sz="1400" b="1" dirty="0">
                <a:solidFill>
                  <a:srgbClr val="1F4E78"/>
                </a:solidFill>
                <a:latin typeface="Arial" pitchFamily="34" charset="0"/>
                <a:ea typeface="Arial" pitchFamily="34" charset="-122"/>
                <a:cs typeface="Arial" pitchFamily="34" charset="-120"/>
              </a:rPr>
              <a:t>How it is built</a:t>
            </a:r>
            <a:endParaRPr lang="en-US" sz="1400" dirty="0"/>
          </a:p>
        </p:txBody>
      </p:sp>
      <p:sp>
        <p:nvSpPr>
          <p:cNvPr id="13" name="Text 10"/>
          <p:cNvSpPr/>
          <p:nvPr/>
        </p:nvSpPr>
        <p:spPr>
          <a:xfrm>
            <a:off x="6995160" y="3995928"/>
            <a:ext cx="4297680" cy="1691640"/>
          </a:xfrm>
          <a:prstGeom prst="rect">
            <a:avLst/>
          </a:prstGeom>
          <a:noFill/>
          <a:ln/>
        </p:spPr>
        <p:txBody>
          <a:bodyPr wrap="square" rtlCol="0" anchor="t"/>
          <a:lstStyle/>
          <a:p>
            <a:pPr marL="177800" indent="-177800">
              <a:lnSpc>
                <a:spcPct val="104000"/>
              </a:lnSpc>
              <a:spcAft>
                <a:spcPts val="700"/>
              </a:spcAft>
              <a:buSzPct val="100000"/>
              <a:buChar char="•"/>
            </a:pPr>
            <a:r>
              <a:rPr lang="en-US" sz="1300" dirty="0">
                <a:solidFill>
                  <a:srgbClr val="1B2A38"/>
                </a:solidFill>
                <a:latin typeface="Arial" pitchFamily="34" charset="0"/>
                <a:ea typeface="Arial" pitchFamily="34" charset="-122"/>
                <a:cs typeface="Arial" pitchFamily="34" charset="-120"/>
              </a:rPr>
              <a:t>FAIR model: breach frequency times severity</a:t>
            </a:r>
            <a:endParaRPr lang="en-US" sz="1300" dirty="0"/>
          </a:p>
          <a:p>
            <a:pPr marL="177800" indent="-177800">
              <a:lnSpc>
                <a:spcPct val="104000"/>
              </a:lnSpc>
              <a:spcAft>
                <a:spcPts val="700"/>
              </a:spcAft>
              <a:buSzPct val="100000"/>
              <a:buChar char="•"/>
            </a:pPr>
            <a:r>
              <a:rPr lang="en-US" sz="1300" dirty="0">
                <a:solidFill>
                  <a:srgbClr val="1B2A38"/>
                </a:solidFill>
                <a:latin typeface="Arial" pitchFamily="34" charset="0"/>
                <a:ea typeface="Arial" pitchFamily="34" charset="-122"/>
                <a:cs typeface="Arial" pitchFamily="34" charset="-120"/>
              </a:rPr>
              <a:t>Records breached and cost per record drive severity</a:t>
            </a:r>
            <a:endParaRPr lang="en-US" sz="1300" dirty="0"/>
          </a:p>
          <a:p>
            <a:pPr marL="177800" indent="-177800">
              <a:lnSpc>
                <a:spcPct val="104000"/>
              </a:lnSpc>
              <a:spcAft>
                <a:spcPts val="700"/>
              </a:spcAft>
              <a:buSzPct val="100000"/>
              <a:buChar char="•"/>
            </a:pPr>
            <a:r>
              <a:rPr lang="en-US" sz="1300" dirty="0">
                <a:solidFill>
                  <a:srgbClr val="1B2A38"/>
                </a:solidFill>
                <a:latin typeface="Arial" pitchFamily="34" charset="0"/>
                <a:ea typeface="Arial" pitchFamily="34" charset="-122"/>
                <a:cs typeface="Arial" pitchFamily="34" charset="-120"/>
              </a:rPr>
              <a:t>Strong controls like MFA and patching cut frequency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RISK EXPOSURE</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Where the money is at risk</a:t>
            </a:r>
            <a:endParaRPr lang="en-US" sz="2800" dirty="0"/>
          </a:p>
        </p:txBody>
      </p:sp>
      <p:pic>
        <p:nvPicPr>
          <p:cNvPr id="4" name="Image 0" descr="/home/claude/erm/figures/risk_exposure_summary.png">    </p:cNvPr>
          <p:cNvPicPr>
            <a:picLocks noChangeAspect="1"/>
          </p:cNvPicPr>
          <p:nvPr/>
        </p:nvPicPr>
        <p:blipFill>
          <a:blip r:embed="rId1"/>
          <a:stretch>
            <a:fillRect/>
          </a:stretch>
        </p:blipFill>
        <p:spPr>
          <a:xfrm>
            <a:off x="502920" y="1783080"/>
            <a:ext cx="6126480" cy="3932020"/>
          </a:xfrm>
          <a:prstGeom prst="rect">
            <a:avLst/>
          </a:prstGeom>
        </p:spPr>
      </p:pic>
      <p:sp>
        <p:nvSpPr>
          <p:cNvPr id="5" name="Text 2"/>
          <p:cNvSpPr/>
          <p:nvPr/>
        </p:nvSpPr>
        <p:spPr>
          <a:xfrm>
            <a:off x="6903720" y="2011680"/>
            <a:ext cx="4709160" cy="3657600"/>
          </a:xfrm>
          <a:prstGeom prst="rect">
            <a:avLst/>
          </a:prstGeom>
          <a:noFill/>
          <a:ln/>
        </p:spPr>
        <p:txBody>
          <a:bodyPr wrap="square" rtlCol="0" anchor="t"/>
          <a:lstStyle/>
          <a:p>
            <a:pPr marL="177800" indent="-177800">
              <a:lnSpc>
                <a:spcPct val="104000"/>
              </a:lnSpc>
              <a:spcAft>
                <a:spcPts val="700"/>
              </a:spcAft>
              <a:buSzPct val="100000"/>
              <a:buChar char="•"/>
            </a:pPr>
            <a:r>
              <a:rPr lang="en-US" sz="1450" dirty="0">
                <a:solidFill>
                  <a:srgbClr val="1B2A38"/>
                </a:solidFill>
                <a:latin typeface="Arial" pitchFamily="34" charset="0"/>
                <a:ea typeface="Arial" pitchFamily="34" charset="-122"/>
                <a:cs typeface="Arial" pitchFamily="34" charset="-120"/>
              </a:rPr>
              <a:t>R1 regulatory dwarfs the other two</a:t>
            </a:r>
            <a:endParaRPr lang="en-US" sz="1450" dirty="0"/>
          </a:p>
          <a:p>
            <a:pPr marL="177800" indent="-177800">
              <a:lnSpc>
                <a:spcPct val="104000"/>
              </a:lnSpc>
              <a:spcAft>
                <a:spcPts val="700"/>
              </a:spcAft>
              <a:buSzPct val="100000"/>
              <a:buChar char="•"/>
            </a:pPr>
            <a:r>
              <a:rPr lang="en-US" sz="1450" dirty="0">
                <a:solidFill>
                  <a:srgbClr val="1B2A38"/>
                </a:solidFill>
                <a:latin typeface="Arial" pitchFamily="34" charset="0"/>
                <a:ea typeface="Arial" pitchFamily="34" charset="-122"/>
                <a:cs typeface="Arial" pitchFamily="34" charset="-120"/>
              </a:rPr>
              <a:t>R2 churn is material, in the low billions</a:t>
            </a:r>
            <a:endParaRPr lang="en-US" sz="1450" dirty="0"/>
          </a:p>
          <a:p>
            <a:pPr marL="177800" indent="-177800">
              <a:lnSpc>
                <a:spcPct val="104000"/>
              </a:lnSpc>
              <a:spcAft>
                <a:spcPts val="700"/>
              </a:spcAft>
              <a:buSzPct val="100000"/>
              <a:buChar char="•"/>
            </a:pPr>
            <a:r>
              <a:rPr lang="en-US" sz="1450" dirty="0">
                <a:solidFill>
                  <a:srgbClr val="1B2A38"/>
                </a:solidFill>
                <a:latin typeface="Arial" pitchFamily="34" charset="0"/>
                <a:ea typeface="Arial" pitchFamily="34" charset="-122"/>
                <a:cs typeface="Arial" pitchFamily="34" charset="-120"/>
              </a:rPr>
              <a:t>R3 cyber is smaller but carries a heavy tail</a:t>
            </a:r>
            <a:endParaRPr lang="en-US" sz="1450" dirty="0"/>
          </a:p>
          <a:p>
            <a:pPr marL="177800" indent="-177800">
              <a:lnSpc>
                <a:spcPct val="104000"/>
              </a:lnSpc>
              <a:spcAft>
                <a:spcPts val="700"/>
              </a:spcAft>
              <a:buSzPct val="100000"/>
              <a:buChar char="•"/>
            </a:pPr>
            <a:r>
              <a:rPr lang="en-US" sz="1450" dirty="0">
                <a:solidFill>
                  <a:srgbClr val="1B2A38"/>
                </a:solidFill>
                <a:latin typeface="Arial" pitchFamily="34" charset="0"/>
                <a:ea typeface="Arial" pitchFamily="34" charset="-122"/>
                <a:cs typeface="Arial" pitchFamily="34" charset="-120"/>
              </a:rPr>
              <a:t>Expected loss sets the priority</a:t>
            </a:r>
            <a:endParaRPr lang="en-US" sz="1450" dirty="0"/>
          </a:p>
          <a:p>
            <a:pPr marL="177800" indent="-177800">
              <a:lnSpc>
                <a:spcPct val="104000"/>
              </a:lnSpc>
              <a:spcAft>
                <a:spcPts val="700"/>
              </a:spcAft>
              <a:buSzPct val="100000"/>
              <a:buChar char="•"/>
            </a:pPr>
            <a:r>
              <a:rPr lang="en-US" sz="1450" dirty="0">
                <a:solidFill>
                  <a:srgbClr val="1B2A38"/>
                </a:solidFill>
                <a:latin typeface="Arial" pitchFamily="34" charset="0"/>
                <a:ea typeface="Arial" pitchFamily="34" charset="-122"/>
                <a:cs typeface="Arial" pitchFamily="34" charset="-120"/>
              </a:rPr>
              <a:t>The tail, P95, sizes the contingency reserve</a:t>
            </a:r>
            <a:endParaRPr lang="en-US" sz="1450" dirty="0"/>
          </a:p>
          <a:p>
            <a:pPr marL="177800" indent="-177800">
              <a:lnSpc>
                <a:spcPct val="104000"/>
              </a:lnSpc>
              <a:spcAft>
                <a:spcPts val="700"/>
              </a:spcAft>
              <a:buSzPct val="100000"/>
              <a:buChar char="•"/>
            </a:pPr>
            <a:r>
              <a:rPr lang="en-US" sz="1450" dirty="0">
                <a:solidFill>
                  <a:srgbClr val="1B2A38"/>
                </a:solidFill>
                <a:latin typeface="Arial" pitchFamily="34" charset="0"/>
                <a:ea typeface="Arial" pitchFamily="34" charset="-122"/>
                <a:cs typeface="Arial" pitchFamily="34" charset="-120"/>
              </a:rPr>
              <a:t>This ranking drives where management looks first</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RISK RESPONSE</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A strategy matched to each risk</a:t>
            </a:r>
            <a:endParaRPr lang="en-US" sz="2800" dirty="0"/>
          </a:p>
        </p:txBody>
      </p:sp>
      <p:sp>
        <p:nvSpPr>
          <p:cNvPr id="4" name="Shape 2"/>
          <p:cNvSpPr/>
          <p:nvPr/>
        </p:nvSpPr>
        <p:spPr>
          <a:xfrm>
            <a:off x="548640" y="1783080"/>
            <a:ext cx="3566160" cy="4023360"/>
          </a:xfrm>
          <a:prstGeom prst="roundRect">
            <a:avLst>
              <a:gd name="adj" fmla="val 2308"/>
            </a:avLst>
          </a:prstGeom>
          <a:solidFill>
            <a:srgbClr val="F7E4E2"/>
          </a:solidFill>
          <a:ln/>
          <a:effectLst>
            <a:outerShdw sx="100000" sy="100000" kx="0" ky="0" algn="bl" rotWithShape="0" blurRad="101600" dist="38100" dir="5400000">
              <a:srgbClr val="000000">
                <a:alpha val="10000"/>
              </a:srgbClr>
            </a:outerShdw>
          </a:effectLst>
        </p:spPr>
      </p:sp>
      <p:sp>
        <p:nvSpPr>
          <p:cNvPr id="5" name="Text 3"/>
          <p:cNvSpPr/>
          <p:nvPr/>
        </p:nvSpPr>
        <p:spPr>
          <a:xfrm>
            <a:off x="804672" y="2011680"/>
            <a:ext cx="3108960" cy="457200"/>
          </a:xfrm>
          <a:prstGeom prst="rect">
            <a:avLst/>
          </a:prstGeom>
          <a:noFill/>
          <a:ln/>
        </p:spPr>
        <p:txBody>
          <a:bodyPr wrap="square" lIns="0" tIns="0" rIns="0" bIns="0" rtlCol="0" anchor="ctr"/>
          <a:lstStyle/>
          <a:p>
            <a:pPr indent="0" marL="0">
              <a:buNone/>
            </a:pPr>
            <a:r>
              <a:rPr lang="en-US" sz="1600" b="1" dirty="0">
                <a:solidFill>
                  <a:srgbClr val="1F4E78"/>
                </a:solidFill>
                <a:latin typeface="Arial" pitchFamily="34" charset="0"/>
                <a:ea typeface="Arial" pitchFamily="34" charset="-122"/>
                <a:cs typeface="Arial" pitchFamily="34" charset="-120"/>
              </a:rPr>
              <a:t>R1 Regulatory</a:t>
            </a:r>
            <a:endParaRPr lang="en-US" sz="1600" dirty="0"/>
          </a:p>
        </p:txBody>
      </p:sp>
      <p:sp>
        <p:nvSpPr>
          <p:cNvPr id="6" name="Text 4"/>
          <p:cNvSpPr/>
          <p:nvPr/>
        </p:nvSpPr>
        <p:spPr>
          <a:xfrm>
            <a:off x="804672" y="2514600"/>
            <a:ext cx="3108960" cy="411480"/>
          </a:xfrm>
          <a:prstGeom prst="rect">
            <a:avLst/>
          </a:prstGeom>
          <a:noFill/>
          <a:ln/>
        </p:spPr>
        <p:txBody>
          <a:bodyPr wrap="square" lIns="0" tIns="0" rIns="0" bIns="0" rtlCol="0" anchor="ctr"/>
          <a:lstStyle/>
          <a:p>
            <a:pPr indent="0" marL="0">
              <a:buNone/>
            </a:pPr>
            <a:r>
              <a:rPr lang="en-US" sz="1400" b="1" dirty="0">
                <a:solidFill>
                  <a:srgbClr val="1B2A38"/>
                </a:solidFill>
                <a:latin typeface="Arial" pitchFamily="34" charset="0"/>
                <a:ea typeface="Arial" pitchFamily="34" charset="-122"/>
                <a:cs typeface="Arial" pitchFamily="34" charset="-120"/>
              </a:rPr>
              <a:t>Mitigate + Accept</a:t>
            </a:r>
            <a:endParaRPr lang="en-US" sz="1400" dirty="0"/>
          </a:p>
        </p:txBody>
      </p:sp>
      <p:sp>
        <p:nvSpPr>
          <p:cNvPr id="7" name="Text 5"/>
          <p:cNvSpPr/>
          <p:nvPr/>
        </p:nvSpPr>
        <p:spPr>
          <a:xfrm>
            <a:off x="804672" y="3108960"/>
            <a:ext cx="3108960" cy="2468880"/>
          </a:xfrm>
          <a:prstGeom prst="rect">
            <a:avLst/>
          </a:prstGeom>
          <a:noFill/>
          <a:ln/>
        </p:spPr>
        <p:txBody>
          <a:bodyPr wrap="square" lIns="0" tIns="0" rIns="0" bIns="0" rtlCol="0" anchor="t"/>
          <a:lstStyle/>
          <a:p>
            <a:pPr indent="0" marL="0">
              <a:lnSpc>
                <a:spcPct val="110000"/>
              </a:lnSpc>
              <a:buNone/>
            </a:pPr>
            <a:r>
              <a:rPr lang="en-US" sz="1350" dirty="0">
                <a:solidFill>
                  <a:srgbClr val="1B2A38"/>
                </a:solidFill>
                <a:latin typeface="Arial" pitchFamily="34" charset="0"/>
                <a:ea typeface="Arial" pitchFamily="34" charset="-122"/>
                <a:cs typeface="Arial" pitchFamily="34" charset="-120"/>
              </a:rPr>
              <a:t>Prepare remedies early, engage legal and policy, hold a contingency reserve. Not transferable.</a:t>
            </a:r>
            <a:endParaRPr lang="en-US" sz="1350" dirty="0"/>
          </a:p>
        </p:txBody>
      </p:sp>
      <p:sp>
        <p:nvSpPr>
          <p:cNvPr id="8" name="Shape 6"/>
          <p:cNvSpPr/>
          <p:nvPr/>
        </p:nvSpPr>
        <p:spPr>
          <a:xfrm>
            <a:off x="4315968" y="1783080"/>
            <a:ext cx="3566160" cy="4023360"/>
          </a:xfrm>
          <a:prstGeom prst="roundRect">
            <a:avLst>
              <a:gd name="adj" fmla="val 2308"/>
            </a:avLst>
          </a:prstGeom>
          <a:solidFill>
            <a:srgbClr val="E7F4F6"/>
          </a:solidFill>
          <a:ln/>
          <a:effectLst>
            <a:outerShdw sx="100000" sy="100000" kx="0" ky="0" algn="bl" rotWithShape="0" blurRad="101600" dist="38100" dir="5400000">
              <a:srgbClr val="000000">
                <a:alpha val="10000"/>
              </a:srgbClr>
            </a:outerShdw>
          </a:effectLst>
        </p:spPr>
      </p:sp>
      <p:sp>
        <p:nvSpPr>
          <p:cNvPr id="9" name="Text 7"/>
          <p:cNvSpPr/>
          <p:nvPr/>
        </p:nvSpPr>
        <p:spPr>
          <a:xfrm>
            <a:off x="4572000" y="2011680"/>
            <a:ext cx="3108960" cy="457200"/>
          </a:xfrm>
          <a:prstGeom prst="rect">
            <a:avLst/>
          </a:prstGeom>
          <a:noFill/>
          <a:ln/>
        </p:spPr>
        <p:txBody>
          <a:bodyPr wrap="square" lIns="0" tIns="0" rIns="0" bIns="0" rtlCol="0" anchor="ctr"/>
          <a:lstStyle/>
          <a:p>
            <a:pPr indent="0" marL="0">
              <a:buNone/>
            </a:pPr>
            <a:r>
              <a:rPr lang="en-US" sz="1600" b="1" dirty="0">
                <a:solidFill>
                  <a:srgbClr val="1F4E78"/>
                </a:solidFill>
                <a:latin typeface="Arial" pitchFamily="34" charset="0"/>
                <a:ea typeface="Arial" pitchFamily="34" charset="-122"/>
                <a:cs typeface="Arial" pitchFamily="34" charset="-120"/>
              </a:rPr>
              <a:t>R2 Churn</a:t>
            </a:r>
            <a:endParaRPr lang="en-US" sz="1600" dirty="0"/>
          </a:p>
        </p:txBody>
      </p:sp>
      <p:sp>
        <p:nvSpPr>
          <p:cNvPr id="10" name="Text 8"/>
          <p:cNvSpPr/>
          <p:nvPr/>
        </p:nvSpPr>
        <p:spPr>
          <a:xfrm>
            <a:off x="4572000" y="2514600"/>
            <a:ext cx="3108960" cy="411480"/>
          </a:xfrm>
          <a:prstGeom prst="rect">
            <a:avLst/>
          </a:prstGeom>
          <a:noFill/>
          <a:ln/>
        </p:spPr>
        <p:txBody>
          <a:bodyPr wrap="square" lIns="0" tIns="0" rIns="0" bIns="0" rtlCol="0" anchor="ctr"/>
          <a:lstStyle/>
          <a:p>
            <a:pPr indent="0" marL="0">
              <a:buNone/>
            </a:pPr>
            <a:r>
              <a:rPr lang="en-US" sz="1400" b="1" dirty="0">
                <a:solidFill>
                  <a:srgbClr val="1B2A38"/>
                </a:solidFill>
                <a:latin typeface="Arial" pitchFamily="34" charset="0"/>
                <a:ea typeface="Arial" pitchFamily="34" charset="-122"/>
                <a:cs typeface="Arial" pitchFamily="34" charset="-120"/>
              </a:rPr>
              <a:t>Mitigate + Exploit</a:t>
            </a:r>
            <a:endParaRPr lang="en-US" sz="1400" dirty="0"/>
          </a:p>
        </p:txBody>
      </p:sp>
      <p:sp>
        <p:nvSpPr>
          <p:cNvPr id="11" name="Text 9"/>
          <p:cNvSpPr/>
          <p:nvPr/>
        </p:nvSpPr>
        <p:spPr>
          <a:xfrm>
            <a:off x="4572000" y="3108960"/>
            <a:ext cx="3108960" cy="2468880"/>
          </a:xfrm>
          <a:prstGeom prst="rect">
            <a:avLst/>
          </a:prstGeom>
          <a:noFill/>
          <a:ln/>
        </p:spPr>
        <p:txBody>
          <a:bodyPr wrap="square" lIns="0" tIns="0" rIns="0" bIns="0" rtlCol="0" anchor="t"/>
          <a:lstStyle/>
          <a:p>
            <a:pPr indent="0" marL="0">
              <a:lnSpc>
                <a:spcPct val="110000"/>
              </a:lnSpc>
              <a:buNone/>
            </a:pPr>
            <a:r>
              <a:rPr lang="en-US" sz="1350" dirty="0">
                <a:solidFill>
                  <a:srgbClr val="1B2A38"/>
                </a:solidFill>
                <a:latin typeface="Arial" pitchFamily="34" charset="0"/>
                <a:ea typeface="Arial" pitchFamily="34" charset="-122"/>
                <a:cs typeface="Arial" pitchFamily="34" charset="-120"/>
              </a:rPr>
              <a:t>Disciplined content spend, careful bundling, win back programs. Cross sell to the Apple base.</a:t>
            </a:r>
            <a:endParaRPr lang="en-US" sz="1350" dirty="0"/>
          </a:p>
        </p:txBody>
      </p:sp>
      <p:sp>
        <p:nvSpPr>
          <p:cNvPr id="12" name="Shape 10"/>
          <p:cNvSpPr/>
          <p:nvPr/>
        </p:nvSpPr>
        <p:spPr>
          <a:xfrm>
            <a:off x="8083296" y="1783080"/>
            <a:ext cx="3566160" cy="4023360"/>
          </a:xfrm>
          <a:prstGeom prst="roundRect">
            <a:avLst>
              <a:gd name="adj" fmla="val 2308"/>
            </a:avLst>
          </a:prstGeom>
          <a:solidFill>
            <a:srgbClr val="FBF1DD"/>
          </a:solidFill>
          <a:ln/>
          <a:effectLst>
            <a:outerShdw sx="100000" sy="100000" kx="0" ky="0" algn="bl" rotWithShape="0" blurRad="101600" dist="38100" dir="5400000">
              <a:srgbClr val="000000">
                <a:alpha val="10000"/>
              </a:srgbClr>
            </a:outerShdw>
          </a:effectLst>
        </p:spPr>
      </p:sp>
      <p:sp>
        <p:nvSpPr>
          <p:cNvPr id="13" name="Text 11"/>
          <p:cNvSpPr/>
          <p:nvPr/>
        </p:nvSpPr>
        <p:spPr>
          <a:xfrm>
            <a:off x="8339328" y="2011680"/>
            <a:ext cx="3108960" cy="457200"/>
          </a:xfrm>
          <a:prstGeom prst="rect">
            <a:avLst/>
          </a:prstGeom>
          <a:noFill/>
          <a:ln/>
        </p:spPr>
        <p:txBody>
          <a:bodyPr wrap="square" lIns="0" tIns="0" rIns="0" bIns="0" rtlCol="0" anchor="ctr"/>
          <a:lstStyle/>
          <a:p>
            <a:pPr indent="0" marL="0">
              <a:buNone/>
            </a:pPr>
            <a:r>
              <a:rPr lang="en-US" sz="1600" b="1" dirty="0">
                <a:solidFill>
                  <a:srgbClr val="1F4E78"/>
                </a:solidFill>
                <a:latin typeface="Arial" pitchFamily="34" charset="0"/>
                <a:ea typeface="Arial" pitchFamily="34" charset="-122"/>
                <a:cs typeface="Arial" pitchFamily="34" charset="-120"/>
              </a:rPr>
              <a:t>R3 Cyber</a:t>
            </a:r>
            <a:endParaRPr lang="en-US" sz="1600" dirty="0"/>
          </a:p>
        </p:txBody>
      </p:sp>
      <p:sp>
        <p:nvSpPr>
          <p:cNvPr id="14" name="Text 12"/>
          <p:cNvSpPr/>
          <p:nvPr/>
        </p:nvSpPr>
        <p:spPr>
          <a:xfrm>
            <a:off x="8339328" y="2514600"/>
            <a:ext cx="3108960" cy="411480"/>
          </a:xfrm>
          <a:prstGeom prst="rect">
            <a:avLst/>
          </a:prstGeom>
          <a:noFill/>
          <a:ln/>
        </p:spPr>
        <p:txBody>
          <a:bodyPr wrap="square" lIns="0" tIns="0" rIns="0" bIns="0" rtlCol="0" anchor="ctr"/>
          <a:lstStyle/>
          <a:p>
            <a:pPr indent="0" marL="0">
              <a:buNone/>
            </a:pPr>
            <a:r>
              <a:rPr lang="en-US" sz="1400" b="1" dirty="0">
                <a:solidFill>
                  <a:srgbClr val="1B2A38"/>
                </a:solidFill>
                <a:latin typeface="Arial" pitchFamily="34" charset="0"/>
                <a:ea typeface="Arial" pitchFamily="34" charset="-122"/>
                <a:cs typeface="Arial" pitchFamily="34" charset="-120"/>
              </a:rPr>
              <a:t>Mitigate + Transfer + Accept</a:t>
            </a:r>
            <a:endParaRPr lang="en-US" sz="1400" dirty="0"/>
          </a:p>
        </p:txBody>
      </p:sp>
      <p:sp>
        <p:nvSpPr>
          <p:cNvPr id="15" name="Text 13"/>
          <p:cNvSpPr/>
          <p:nvPr/>
        </p:nvSpPr>
        <p:spPr>
          <a:xfrm>
            <a:off x="8339328" y="3108960"/>
            <a:ext cx="3108960" cy="2468880"/>
          </a:xfrm>
          <a:prstGeom prst="rect">
            <a:avLst/>
          </a:prstGeom>
          <a:noFill/>
          <a:ln/>
        </p:spPr>
        <p:txBody>
          <a:bodyPr wrap="square" lIns="0" tIns="0" rIns="0" bIns="0" rtlCol="0" anchor="t"/>
          <a:lstStyle/>
          <a:p>
            <a:pPr indent="0" marL="0">
              <a:lnSpc>
                <a:spcPct val="110000"/>
              </a:lnSpc>
              <a:buNone/>
            </a:pPr>
            <a:r>
              <a:rPr lang="en-US" sz="1350" dirty="0">
                <a:solidFill>
                  <a:srgbClr val="1B2A38"/>
                </a:solidFill>
                <a:latin typeface="Arial" pitchFamily="34" charset="0"/>
                <a:ea typeface="Arial" pitchFamily="34" charset="-122"/>
                <a:cs typeface="Arial" pitchFamily="34" charset="-120"/>
              </a:rPr>
              <a:t>MFA, patch SLAs, monitoring, zero trust. Transfer the tail through cyber insurance.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KEY RISK INDICATORS</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What we watch, and the red triggers</a:t>
            </a:r>
            <a:endParaRPr lang="en-US" sz="2800" dirty="0"/>
          </a:p>
        </p:txBody>
      </p:sp>
      <p:sp>
        <p:nvSpPr>
          <p:cNvPr id="4" name="Shape 2"/>
          <p:cNvSpPr/>
          <p:nvPr/>
        </p:nvSpPr>
        <p:spPr>
          <a:xfrm>
            <a:off x="548640" y="1783080"/>
            <a:ext cx="3566160" cy="3383280"/>
          </a:xfrm>
          <a:prstGeom prst="roundRect">
            <a:avLst>
              <a:gd name="adj" fmla="val 2432"/>
            </a:avLst>
          </a:prstGeom>
          <a:solidFill>
            <a:srgbClr val="EFF4F9"/>
          </a:solidFill>
          <a:ln/>
          <a:effectLst>
            <a:outerShdw sx="100000" sy="100000" kx="0" ky="0" algn="bl" rotWithShape="0" blurRad="101600" dist="38100" dir="5400000">
              <a:srgbClr val="000000">
                <a:alpha val="10000"/>
              </a:srgbClr>
            </a:outerShdw>
          </a:effectLst>
        </p:spPr>
      </p:sp>
      <p:sp>
        <p:nvSpPr>
          <p:cNvPr id="5" name="Text 3"/>
          <p:cNvSpPr/>
          <p:nvPr/>
        </p:nvSpPr>
        <p:spPr>
          <a:xfrm>
            <a:off x="804672" y="2011680"/>
            <a:ext cx="3108960" cy="457200"/>
          </a:xfrm>
          <a:prstGeom prst="rect">
            <a:avLst/>
          </a:prstGeom>
          <a:noFill/>
          <a:ln/>
        </p:spPr>
        <p:txBody>
          <a:bodyPr wrap="square" lIns="0" tIns="0" rIns="0" bIns="0" rtlCol="0" anchor="ctr"/>
          <a:lstStyle/>
          <a:p>
            <a:pPr indent="0" marL="0">
              <a:buNone/>
            </a:pPr>
            <a:r>
              <a:rPr lang="en-US" sz="1600" b="1" dirty="0">
                <a:solidFill>
                  <a:srgbClr val="1F4E78"/>
                </a:solidFill>
                <a:latin typeface="Arial" pitchFamily="34" charset="0"/>
                <a:ea typeface="Arial" pitchFamily="34" charset="-122"/>
                <a:cs typeface="Arial" pitchFamily="34" charset="-120"/>
              </a:rPr>
              <a:t>R1 Regulatory</a:t>
            </a:r>
            <a:endParaRPr lang="en-US" sz="1600" dirty="0"/>
          </a:p>
        </p:txBody>
      </p:sp>
      <p:sp>
        <p:nvSpPr>
          <p:cNvPr id="6" name="Text 4"/>
          <p:cNvSpPr/>
          <p:nvPr/>
        </p:nvSpPr>
        <p:spPr>
          <a:xfrm>
            <a:off x="822960" y="2651760"/>
            <a:ext cx="3063240" cy="2286000"/>
          </a:xfrm>
          <a:prstGeom prst="rect">
            <a:avLst/>
          </a:prstGeom>
          <a:noFill/>
          <a:ln/>
        </p:spPr>
        <p:txBody>
          <a:bodyPr wrap="square" rtlCol="0" anchor="t"/>
          <a:lstStyle/>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Probability of approval, red below 50%</a:t>
            </a:r>
            <a:endParaRPr lang="en-US" sz="1350" dirty="0"/>
          </a:p>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Milestone slippage, red over 90 days</a:t>
            </a:r>
            <a:endParaRPr lang="en-US" sz="1350" dirty="0"/>
          </a:p>
        </p:txBody>
      </p:sp>
      <p:sp>
        <p:nvSpPr>
          <p:cNvPr id="7" name="Shape 5"/>
          <p:cNvSpPr/>
          <p:nvPr/>
        </p:nvSpPr>
        <p:spPr>
          <a:xfrm>
            <a:off x="4315968" y="1783080"/>
            <a:ext cx="3566160" cy="3383280"/>
          </a:xfrm>
          <a:prstGeom prst="roundRect">
            <a:avLst>
              <a:gd name="adj" fmla="val 2432"/>
            </a:avLst>
          </a:prstGeom>
          <a:solidFill>
            <a:srgbClr val="EFF4F9"/>
          </a:solidFill>
          <a:ln/>
          <a:effectLst>
            <a:outerShdw sx="100000" sy="100000" kx="0" ky="0" algn="bl" rotWithShape="0" blurRad="101600" dist="38100" dir="5400000">
              <a:srgbClr val="000000">
                <a:alpha val="10000"/>
              </a:srgbClr>
            </a:outerShdw>
          </a:effectLst>
        </p:spPr>
      </p:sp>
      <p:sp>
        <p:nvSpPr>
          <p:cNvPr id="8" name="Text 6"/>
          <p:cNvSpPr/>
          <p:nvPr/>
        </p:nvSpPr>
        <p:spPr>
          <a:xfrm>
            <a:off x="4572000" y="2011680"/>
            <a:ext cx="3108960" cy="457200"/>
          </a:xfrm>
          <a:prstGeom prst="rect">
            <a:avLst/>
          </a:prstGeom>
          <a:noFill/>
          <a:ln/>
        </p:spPr>
        <p:txBody>
          <a:bodyPr wrap="square" lIns="0" tIns="0" rIns="0" bIns="0" rtlCol="0" anchor="ctr"/>
          <a:lstStyle/>
          <a:p>
            <a:pPr indent="0" marL="0">
              <a:buNone/>
            </a:pPr>
            <a:r>
              <a:rPr lang="en-US" sz="1600" b="1" dirty="0">
                <a:solidFill>
                  <a:srgbClr val="1F4E78"/>
                </a:solidFill>
                <a:latin typeface="Arial" pitchFamily="34" charset="0"/>
                <a:ea typeface="Arial" pitchFamily="34" charset="-122"/>
                <a:cs typeface="Arial" pitchFamily="34" charset="-120"/>
              </a:rPr>
              <a:t>R2 Churn</a:t>
            </a:r>
            <a:endParaRPr lang="en-US" sz="1600" dirty="0"/>
          </a:p>
        </p:txBody>
      </p:sp>
      <p:sp>
        <p:nvSpPr>
          <p:cNvPr id="9" name="Text 7"/>
          <p:cNvSpPr/>
          <p:nvPr/>
        </p:nvSpPr>
        <p:spPr>
          <a:xfrm>
            <a:off x="4590288" y="2651760"/>
            <a:ext cx="3063240" cy="2286000"/>
          </a:xfrm>
          <a:prstGeom prst="rect">
            <a:avLst/>
          </a:prstGeom>
          <a:noFill/>
          <a:ln/>
        </p:spPr>
        <p:txBody>
          <a:bodyPr wrap="square" rtlCol="0" anchor="t"/>
          <a:lstStyle/>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Monthly churn, red above 4%</a:t>
            </a:r>
            <a:endParaRPr lang="en-US" sz="1350" dirty="0"/>
          </a:p>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Content cost ratio, red above 60%</a:t>
            </a:r>
            <a:endParaRPr lang="en-US" sz="1350" dirty="0"/>
          </a:p>
        </p:txBody>
      </p:sp>
      <p:sp>
        <p:nvSpPr>
          <p:cNvPr id="10" name="Shape 8"/>
          <p:cNvSpPr/>
          <p:nvPr/>
        </p:nvSpPr>
        <p:spPr>
          <a:xfrm>
            <a:off x="8083296" y="1783080"/>
            <a:ext cx="3566160" cy="3383280"/>
          </a:xfrm>
          <a:prstGeom prst="roundRect">
            <a:avLst>
              <a:gd name="adj" fmla="val 2432"/>
            </a:avLst>
          </a:prstGeom>
          <a:solidFill>
            <a:srgbClr val="EFF4F9"/>
          </a:solidFill>
          <a:ln/>
          <a:effectLst>
            <a:outerShdw sx="100000" sy="100000" kx="0" ky="0" algn="bl" rotWithShape="0" blurRad="101600" dist="38100" dir="5400000">
              <a:srgbClr val="000000">
                <a:alpha val="10000"/>
              </a:srgbClr>
            </a:outerShdw>
          </a:effectLst>
        </p:spPr>
      </p:sp>
      <p:sp>
        <p:nvSpPr>
          <p:cNvPr id="11" name="Text 9"/>
          <p:cNvSpPr/>
          <p:nvPr/>
        </p:nvSpPr>
        <p:spPr>
          <a:xfrm>
            <a:off x="8339328" y="2011680"/>
            <a:ext cx="3108960" cy="457200"/>
          </a:xfrm>
          <a:prstGeom prst="rect">
            <a:avLst/>
          </a:prstGeom>
          <a:noFill/>
          <a:ln/>
        </p:spPr>
        <p:txBody>
          <a:bodyPr wrap="square" lIns="0" tIns="0" rIns="0" bIns="0" rtlCol="0" anchor="ctr"/>
          <a:lstStyle/>
          <a:p>
            <a:pPr indent="0" marL="0">
              <a:buNone/>
            </a:pPr>
            <a:r>
              <a:rPr lang="en-US" sz="1600" b="1" dirty="0">
                <a:solidFill>
                  <a:srgbClr val="1F4E78"/>
                </a:solidFill>
                <a:latin typeface="Arial" pitchFamily="34" charset="0"/>
                <a:ea typeface="Arial" pitchFamily="34" charset="-122"/>
                <a:cs typeface="Arial" pitchFamily="34" charset="-120"/>
              </a:rPr>
              <a:t>R3 Cyber</a:t>
            </a:r>
            <a:endParaRPr lang="en-US" sz="1600" dirty="0"/>
          </a:p>
        </p:txBody>
      </p:sp>
      <p:sp>
        <p:nvSpPr>
          <p:cNvPr id="12" name="Text 10"/>
          <p:cNvSpPr/>
          <p:nvPr/>
        </p:nvSpPr>
        <p:spPr>
          <a:xfrm>
            <a:off x="8357616" y="2651760"/>
            <a:ext cx="3063240" cy="2286000"/>
          </a:xfrm>
          <a:prstGeom prst="rect">
            <a:avLst/>
          </a:prstGeom>
          <a:noFill/>
          <a:ln/>
        </p:spPr>
        <p:txBody>
          <a:bodyPr wrap="square" rtlCol="0" anchor="t"/>
          <a:lstStyle/>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MFA adoption, red below 95%</a:t>
            </a:r>
            <a:endParaRPr lang="en-US" sz="1350" dirty="0"/>
          </a:p>
          <a:p>
            <a:pPr marL="177800" indent="-177800">
              <a:lnSpc>
                <a:spcPct val="104000"/>
              </a:lnSpc>
              <a:spcAft>
                <a:spcPts val="700"/>
              </a:spcAft>
              <a:buSzPct val="100000"/>
              <a:buChar char="•"/>
            </a:pPr>
            <a:r>
              <a:rPr lang="en-US" sz="1350" dirty="0">
                <a:solidFill>
                  <a:srgbClr val="1B2A38"/>
                </a:solidFill>
                <a:latin typeface="Arial" pitchFamily="34" charset="0"/>
                <a:ea typeface="Arial" pitchFamily="34" charset="-122"/>
                <a:cs typeface="Arial" pitchFamily="34" charset="-120"/>
              </a:rPr>
              <a:t>Mean time to detect, red over 72 hours</a:t>
            </a:r>
            <a:endParaRPr lang="en-US" sz="1350" dirty="0"/>
          </a:p>
        </p:txBody>
      </p:sp>
      <p:sp>
        <p:nvSpPr>
          <p:cNvPr id="13" name="Shape 11"/>
          <p:cNvSpPr/>
          <p:nvPr/>
        </p:nvSpPr>
        <p:spPr>
          <a:xfrm>
            <a:off x="548640" y="5349240"/>
            <a:ext cx="11091672" cy="777240"/>
          </a:xfrm>
          <a:prstGeom prst="roundRect">
            <a:avLst>
              <a:gd name="adj" fmla="val 10588"/>
            </a:avLst>
          </a:prstGeom>
          <a:solidFill>
            <a:srgbClr val="14365A"/>
          </a:solidFill>
          <a:ln/>
          <a:effectLst>
            <a:outerShdw sx="100000" sy="100000" kx="0" ky="0" algn="bl" rotWithShape="0" blurRad="101600" dist="38100" dir="5400000">
              <a:srgbClr val="000000">
                <a:alpha val="10000"/>
              </a:srgbClr>
            </a:outerShdw>
          </a:effectLst>
        </p:spPr>
      </p:sp>
      <p:sp>
        <p:nvSpPr>
          <p:cNvPr id="14" name="Text 12"/>
          <p:cNvSpPr/>
          <p:nvPr/>
        </p:nvSpPr>
        <p:spPr>
          <a:xfrm>
            <a:off x="548640" y="5349240"/>
            <a:ext cx="11091672" cy="77724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A move into Red invokes that risk’s response strategy. Leading indicators warn early, lagging indicators confirm.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2A45"/>
        </a:solidFill>
      </p:bgPr>
    </p:bg>
    <p:spTree>
      <p:nvGrpSpPr>
        <p:cNvPr id="1" name=""/>
        <p:cNvGrpSpPr/>
        <p:nvPr/>
      </p:nvGrpSpPr>
      <p:grpSpPr>
        <a:xfrm>
          <a:off x="0" y="0"/>
          <a:ext cx="0" cy="0"/>
          <a:chOff x="0" y="0"/>
          <a:chExt cx="0" cy="0"/>
        </a:xfrm>
      </p:grpSpPr>
      <p:sp>
        <p:nvSpPr>
          <p:cNvPr id="2" name="Shape 0"/>
          <p:cNvSpPr/>
          <p:nvPr/>
        </p:nvSpPr>
        <p:spPr>
          <a:xfrm>
            <a:off x="-1371600" y="4572000"/>
            <a:ext cx="3291840" cy="3291840"/>
          </a:xfrm>
          <a:prstGeom prst="ellipse">
            <a:avLst/>
          </a:prstGeom>
          <a:solidFill>
            <a:srgbClr val="0E9AA7">
              <a:alpha val="16000"/>
            </a:srgbClr>
          </a:solidFill>
          <a:ln/>
        </p:spPr>
      </p:sp>
      <p:sp>
        <p:nvSpPr>
          <p:cNvPr id="3" name="Text 1"/>
          <p:cNvSpPr/>
          <p:nvPr/>
        </p:nvSpPr>
        <p:spPr>
          <a:xfrm>
            <a:off x="548640" y="502920"/>
            <a:ext cx="11064240" cy="365760"/>
          </a:xfrm>
          <a:prstGeom prst="rect">
            <a:avLst/>
          </a:prstGeom>
          <a:noFill/>
          <a:ln/>
        </p:spPr>
        <p:txBody>
          <a:bodyPr wrap="square" lIns="0" tIns="0" rIns="0" bIns="0" rtlCol="0" anchor="ctr"/>
          <a:lstStyle/>
          <a:p>
            <a:pPr indent="0" marL="0">
              <a:buNone/>
            </a:pPr>
            <a:r>
              <a:rPr lang="en-US" sz="1300" b="1" spc="200" kern="0" dirty="0">
                <a:solidFill>
                  <a:srgbClr val="0E9AA7"/>
                </a:solidFill>
                <a:latin typeface="Arial" pitchFamily="34" charset="0"/>
                <a:ea typeface="Arial" pitchFamily="34" charset="-122"/>
                <a:cs typeface="Arial" pitchFamily="34" charset="-120"/>
              </a:rPr>
              <a:t>CONCLUSIONS AND RECOMMENDATIONS</a:t>
            </a:r>
            <a:endParaRPr lang="en-US" sz="1300" dirty="0"/>
          </a:p>
        </p:txBody>
      </p:sp>
      <p:sp>
        <p:nvSpPr>
          <p:cNvPr id="4" name="Text 2"/>
          <p:cNvSpPr/>
          <p:nvPr/>
        </p:nvSpPr>
        <p:spPr>
          <a:xfrm>
            <a:off x="548640" y="914400"/>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we recommend</a:t>
            </a:r>
            <a:endParaRPr lang="en-US" sz="3000" dirty="0"/>
          </a:p>
        </p:txBody>
      </p:sp>
      <p:sp>
        <p:nvSpPr>
          <p:cNvPr id="5" name="Shape 3"/>
          <p:cNvSpPr/>
          <p:nvPr/>
        </p:nvSpPr>
        <p:spPr>
          <a:xfrm>
            <a:off x="548640" y="1965960"/>
            <a:ext cx="11091672" cy="1207008"/>
          </a:xfrm>
          <a:prstGeom prst="roundRect">
            <a:avLst>
              <a:gd name="adj" fmla="val 5303"/>
            </a:avLst>
          </a:prstGeom>
          <a:solidFill>
            <a:srgbClr val="14365A"/>
          </a:solidFill>
          <a:ln/>
        </p:spPr>
      </p:sp>
      <p:sp>
        <p:nvSpPr>
          <p:cNvPr id="6" name="Text 4"/>
          <p:cNvSpPr/>
          <p:nvPr/>
        </p:nvSpPr>
        <p:spPr>
          <a:xfrm>
            <a:off x="868680" y="2112264"/>
            <a:ext cx="10424160" cy="411480"/>
          </a:xfrm>
          <a:prstGeom prst="rect">
            <a:avLst/>
          </a:prstGeom>
          <a:noFill/>
          <a:ln/>
        </p:spPr>
        <p:txBody>
          <a:bodyPr wrap="square" lIns="0" tIns="0" rIns="0" bIns="0" rtlCol="0" anchor="ctr"/>
          <a:lstStyle/>
          <a:p>
            <a:pPr indent="0" marL="0">
              <a:buNone/>
            </a:pPr>
            <a:r>
              <a:rPr lang="en-US" sz="1600" b="1" dirty="0">
                <a:solidFill>
                  <a:srgbClr val="0E9AA7"/>
                </a:solidFill>
                <a:latin typeface="Arial" pitchFamily="34" charset="0"/>
                <a:ea typeface="Arial" pitchFamily="34" charset="-122"/>
                <a:cs typeface="Arial" pitchFamily="34" charset="-120"/>
              </a:rPr>
              <a:t>Proceed only with remedies ready</a:t>
            </a:r>
            <a:endParaRPr lang="en-US" sz="1600" dirty="0"/>
          </a:p>
        </p:txBody>
      </p:sp>
      <p:sp>
        <p:nvSpPr>
          <p:cNvPr id="7" name="Text 5"/>
          <p:cNvSpPr/>
          <p:nvPr/>
        </p:nvSpPr>
        <p:spPr>
          <a:xfrm>
            <a:off x="868680" y="2532888"/>
            <a:ext cx="10515600" cy="548640"/>
          </a:xfrm>
          <a:prstGeom prst="rect">
            <a:avLst/>
          </a:prstGeom>
          <a:noFill/>
          <a:ln/>
        </p:spPr>
        <p:txBody>
          <a:bodyPr wrap="square" lIns="0" tIns="0" rIns="0" bIns="0" rtlCol="0" anchor="t"/>
          <a:lstStyle/>
          <a:p>
            <a:pPr indent="0" marL="0">
              <a:buNone/>
            </a:pPr>
            <a:r>
              <a:rPr lang="en-US" sz="1350" dirty="0">
                <a:solidFill>
                  <a:srgbClr val="FFFFFF"/>
                </a:solidFill>
                <a:latin typeface="Arial" pitchFamily="34" charset="0"/>
                <a:ea typeface="Arial" pitchFamily="34" charset="-122"/>
                <a:cs typeface="Arial" pitchFamily="34" charset="-120"/>
              </a:rPr>
              <a:t>R1 governs the deal. Prepare divestitures and commitments, and hold a reserve for a 40 billion dollar tail.</a:t>
            </a:r>
            <a:endParaRPr lang="en-US" sz="1350" dirty="0"/>
          </a:p>
        </p:txBody>
      </p:sp>
      <p:sp>
        <p:nvSpPr>
          <p:cNvPr id="8" name="Shape 6"/>
          <p:cNvSpPr/>
          <p:nvPr/>
        </p:nvSpPr>
        <p:spPr>
          <a:xfrm>
            <a:off x="548640" y="3300984"/>
            <a:ext cx="11091672" cy="1207008"/>
          </a:xfrm>
          <a:prstGeom prst="roundRect">
            <a:avLst>
              <a:gd name="adj" fmla="val 5303"/>
            </a:avLst>
          </a:prstGeom>
          <a:solidFill>
            <a:srgbClr val="14365A"/>
          </a:solidFill>
          <a:ln/>
        </p:spPr>
      </p:sp>
      <p:sp>
        <p:nvSpPr>
          <p:cNvPr id="9" name="Text 7"/>
          <p:cNvSpPr/>
          <p:nvPr/>
        </p:nvSpPr>
        <p:spPr>
          <a:xfrm>
            <a:off x="868680" y="3447288"/>
            <a:ext cx="10424160" cy="411480"/>
          </a:xfrm>
          <a:prstGeom prst="rect">
            <a:avLst/>
          </a:prstGeom>
          <a:noFill/>
          <a:ln/>
        </p:spPr>
        <p:txBody>
          <a:bodyPr wrap="square" lIns="0" tIns="0" rIns="0" bIns="0" rtlCol="0" anchor="ctr"/>
          <a:lstStyle/>
          <a:p>
            <a:pPr indent="0" marL="0">
              <a:buNone/>
            </a:pPr>
            <a:r>
              <a:rPr lang="en-US" sz="1600" b="1" dirty="0">
                <a:solidFill>
                  <a:srgbClr val="D99A2B"/>
                </a:solidFill>
                <a:latin typeface="Arial" pitchFamily="34" charset="0"/>
                <a:ea typeface="Arial" pitchFamily="34" charset="-122"/>
                <a:cs typeface="Arial" pitchFamily="34" charset="-120"/>
              </a:rPr>
              <a:t>Protect the subscriber base</a:t>
            </a:r>
            <a:endParaRPr lang="en-US" sz="1600" dirty="0"/>
          </a:p>
        </p:txBody>
      </p:sp>
      <p:sp>
        <p:nvSpPr>
          <p:cNvPr id="10" name="Text 8"/>
          <p:cNvSpPr/>
          <p:nvPr/>
        </p:nvSpPr>
        <p:spPr>
          <a:xfrm>
            <a:off x="868680" y="3867912"/>
            <a:ext cx="10515600" cy="548640"/>
          </a:xfrm>
          <a:prstGeom prst="rect">
            <a:avLst/>
          </a:prstGeom>
          <a:noFill/>
          <a:ln/>
        </p:spPr>
        <p:txBody>
          <a:bodyPr wrap="square" lIns="0" tIns="0" rIns="0" bIns="0" rtlCol="0" anchor="t"/>
          <a:lstStyle/>
          <a:p>
            <a:pPr indent="0" marL="0">
              <a:buNone/>
            </a:pPr>
            <a:r>
              <a:rPr lang="en-US" sz="1350" dirty="0">
                <a:solidFill>
                  <a:srgbClr val="FFFFFF"/>
                </a:solidFill>
                <a:latin typeface="Arial" pitchFamily="34" charset="0"/>
                <a:ea typeface="Arial" pitchFamily="34" charset="-122"/>
                <a:cs typeface="Arial" pitchFamily="34" charset="-120"/>
              </a:rPr>
              <a:t>R2 puts billions of revenue at risk. Bundle carefully, invest in retention, and watch the churn KRIs.</a:t>
            </a:r>
            <a:endParaRPr lang="en-US" sz="1350" dirty="0"/>
          </a:p>
        </p:txBody>
      </p:sp>
      <p:sp>
        <p:nvSpPr>
          <p:cNvPr id="11" name="Shape 9"/>
          <p:cNvSpPr/>
          <p:nvPr/>
        </p:nvSpPr>
        <p:spPr>
          <a:xfrm>
            <a:off x="548640" y="4636008"/>
            <a:ext cx="11091672" cy="1207008"/>
          </a:xfrm>
          <a:prstGeom prst="roundRect">
            <a:avLst>
              <a:gd name="adj" fmla="val 5303"/>
            </a:avLst>
          </a:prstGeom>
          <a:solidFill>
            <a:srgbClr val="14365A"/>
          </a:solidFill>
          <a:ln/>
        </p:spPr>
      </p:sp>
      <p:sp>
        <p:nvSpPr>
          <p:cNvPr id="12" name="Text 10"/>
          <p:cNvSpPr/>
          <p:nvPr/>
        </p:nvSpPr>
        <p:spPr>
          <a:xfrm>
            <a:off x="868680" y="4782312"/>
            <a:ext cx="10424160" cy="411480"/>
          </a:xfrm>
          <a:prstGeom prst="rect">
            <a:avLst/>
          </a:prstGeom>
          <a:noFill/>
          <a:ln/>
        </p:spPr>
        <p:txBody>
          <a:bodyPr wrap="square" lIns="0" tIns="0" rIns="0" bIns="0" rtlCol="0" anchor="ctr"/>
          <a:lstStyle/>
          <a:p>
            <a:pPr indent="0" marL="0">
              <a:buNone/>
            </a:pPr>
            <a:r>
              <a:rPr lang="en-US" sz="1600" b="1" dirty="0">
                <a:solidFill>
                  <a:srgbClr val="0E9AA7"/>
                </a:solidFill>
                <a:latin typeface="Arial" pitchFamily="34" charset="0"/>
                <a:ea typeface="Arial" pitchFamily="34" charset="-122"/>
                <a:cs typeface="Arial" pitchFamily="34" charset="-120"/>
              </a:rPr>
              <a:t>Harden the data, insure the tail</a:t>
            </a:r>
            <a:endParaRPr lang="en-US" sz="1600" dirty="0"/>
          </a:p>
        </p:txBody>
      </p:sp>
      <p:sp>
        <p:nvSpPr>
          <p:cNvPr id="13" name="Text 11"/>
          <p:cNvSpPr/>
          <p:nvPr/>
        </p:nvSpPr>
        <p:spPr>
          <a:xfrm>
            <a:off x="868680" y="5202936"/>
            <a:ext cx="10515600" cy="548640"/>
          </a:xfrm>
          <a:prstGeom prst="rect">
            <a:avLst/>
          </a:prstGeom>
          <a:noFill/>
          <a:ln/>
        </p:spPr>
        <p:txBody>
          <a:bodyPr wrap="square" lIns="0" tIns="0" rIns="0" bIns="0" rtlCol="0" anchor="t"/>
          <a:lstStyle/>
          <a:p>
            <a:pPr indent="0" marL="0">
              <a:buNone/>
            </a:pPr>
            <a:r>
              <a:rPr lang="en-US" sz="1350" dirty="0">
                <a:solidFill>
                  <a:srgbClr val="FFFFFF"/>
                </a:solidFill>
                <a:latin typeface="Arial" pitchFamily="34" charset="0"/>
                <a:ea typeface="Arial" pitchFamily="34" charset="-122"/>
                <a:cs typeface="Arial" pitchFamily="34" charset="-120"/>
              </a:rPr>
              <a:t>R3 is smaller but tail heavy. Enforce MFA and patching, and transfer the extreme loss.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292608"/>
          </a:xfrm>
          <a:prstGeom prst="rect">
            <a:avLst/>
          </a:prstGeom>
          <a:noFill/>
          <a:ln/>
        </p:spPr>
        <p:txBody>
          <a:bodyPr wrap="square" lIns="0" tIns="0" rIns="0" bIns="0" rtlCol="0" anchor="ctr"/>
          <a:lstStyle/>
          <a:p>
            <a:pPr indent="0" marL="0">
              <a:buNone/>
            </a:pPr>
            <a:r>
              <a:rPr lang="en-US" sz="1200" b="1" spc="200" kern="0" dirty="0">
                <a:solidFill>
                  <a:srgbClr val="0E9AA7"/>
                </a:solidFill>
                <a:latin typeface="Arial" pitchFamily="34" charset="0"/>
                <a:ea typeface="Arial" pitchFamily="34" charset="-122"/>
                <a:cs typeface="Arial" pitchFamily="34" charset="-120"/>
              </a:rPr>
              <a:t>REFERENCES</a:t>
            </a:r>
            <a:endParaRPr lang="en-US" sz="1200" dirty="0"/>
          </a:p>
        </p:txBody>
      </p:sp>
      <p:sp>
        <p:nvSpPr>
          <p:cNvPr id="3" name="Text 1"/>
          <p:cNvSpPr/>
          <p:nvPr/>
        </p:nvSpPr>
        <p:spPr>
          <a:xfrm>
            <a:off x="548640" y="768096"/>
            <a:ext cx="11064240" cy="658368"/>
          </a:xfrm>
          <a:prstGeom prst="rect">
            <a:avLst/>
          </a:prstGeom>
          <a:noFill/>
          <a:ln/>
        </p:spPr>
        <p:txBody>
          <a:bodyPr wrap="square" lIns="0" tIns="0" rIns="0" bIns="0" rtlCol="0" anchor="ctr"/>
          <a:lstStyle/>
          <a:p>
            <a:pPr indent="0" marL="0">
              <a:buNone/>
            </a:pPr>
            <a:r>
              <a:rPr lang="en-US" sz="2800" b="1" dirty="0">
                <a:solidFill>
                  <a:srgbClr val="1F4E78"/>
                </a:solidFill>
                <a:latin typeface="Arial" pitchFamily="34" charset="0"/>
                <a:ea typeface="Arial" pitchFamily="34" charset="-122"/>
                <a:cs typeface="Arial" pitchFamily="34" charset="-120"/>
              </a:rPr>
              <a:t>References</a:t>
            </a:r>
            <a:endParaRPr lang="en-US" sz="2800" dirty="0"/>
          </a:p>
        </p:txBody>
      </p:sp>
      <p:sp>
        <p:nvSpPr>
          <p:cNvPr id="4" name="Text 2"/>
          <p:cNvSpPr/>
          <p:nvPr/>
        </p:nvSpPr>
        <p:spPr>
          <a:xfrm>
            <a:off x="548640" y="1828800"/>
            <a:ext cx="10881360" cy="2743200"/>
          </a:xfrm>
          <a:prstGeom prst="rect">
            <a:avLst/>
          </a:prstGeom>
          <a:noFill/>
          <a:ln/>
        </p:spPr>
        <p:txBody>
          <a:bodyPr wrap="square" rtlCol="0" anchor="t"/>
          <a:lstStyle/>
          <a:p>
            <a:pPr indent="0" marL="0">
              <a:spcAft>
                <a:spcPts val="900"/>
              </a:spcAft>
              <a:buNone/>
            </a:pPr>
            <a:r>
              <a:rPr lang="en-US" sz="1350" dirty="0">
                <a:solidFill>
                  <a:srgbClr val="1B2A38"/>
                </a:solidFill>
                <a:latin typeface="Arial" pitchFamily="34" charset="0"/>
                <a:ea typeface="Arial" pitchFamily="34" charset="-122"/>
                <a:cs typeface="Arial" pitchFamily="34" charset="-120"/>
              </a:rPr>
              <a:t>Apple Inc. (2024). Form 10-K for fiscal year 2024. U.S. Securities and Exchange Commission.</a:t>
            </a:r>
            <a:endParaRPr lang="en-US" sz="1350" dirty="0"/>
          </a:p>
          <a:p>
            <a:pPr indent="0" marL="0">
              <a:spcAft>
                <a:spcPts val="900"/>
              </a:spcAft>
              <a:buNone/>
            </a:pPr>
            <a:r>
              <a:rPr lang="en-US" sz="1350" dirty="0">
                <a:solidFill>
                  <a:srgbClr val="1B2A38"/>
                </a:solidFill>
                <a:latin typeface="Arial" pitchFamily="34" charset="0"/>
                <a:ea typeface="Arial" pitchFamily="34" charset="-122"/>
                <a:cs typeface="Arial" pitchFamily="34" charset="-120"/>
              </a:rPr>
              <a:t>Chapman, P., et al. (2000). CRISP-DM 1.0: Step-by-step data mining guide. SPSS Inc.</a:t>
            </a:r>
            <a:endParaRPr lang="en-US" sz="1350" dirty="0"/>
          </a:p>
          <a:p>
            <a:pPr indent="0" marL="0">
              <a:spcAft>
                <a:spcPts val="900"/>
              </a:spcAft>
              <a:buNone/>
            </a:pPr>
            <a:r>
              <a:rPr lang="en-US" sz="1350" dirty="0">
                <a:solidFill>
                  <a:srgbClr val="1B2A38"/>
                </a:solidFill>
                <a:latin typeface="Arial" pitchFamily="34" charset="0"/>
                <a:ea typeface="Arial" pitchFamily="34" charset="-122"/>
                <a:cs typeface="Arial" pitchFamily="34" charset="-120"/>
              </a:rPr>
              <a:t>Fleisher, C. S., &amp; Bensoussan, B. E. (2015). Business and competitive analysis (2nd ed.). Pearson FT Press.</a:t>
            </a:r>
            <a:endParaRPr lang="en-US" sz="1350" dirty="0"/>
          </a:p>
          <a:p>
            <a:pPr indent="0" marL="0">
              <a:spcAft>
                <a:spcPts val="900"/>
              </a:spcAft>
              <a:buNone/>
            </a:pPr>
            <a:r>
              <a:rPr lang="en-US" sz="1350" dirty="0">
                <a:solidFill>
                  <a:srgbClr val="1B2A38"/>
                </a:solidFill>
                <a:latin typeface="Arial" pitchFamily="34" charset="0"/>
                <a:ea typeface="Arial" pitchFamily="34" charset="-122"/>
                <a:cs typeface="Arial" pitchFamily="34" charset="-120"/>
              </a:rPr>
              <a:t>Freund, J., &amp; Jones, J. (2014). Measuring and managing information risk: A FAIR approach. Butterworth-Heinemann.</a:t>
            </a:r>
            <a:endParaRPr lang="en-US" sz="1350" dirty="0"/>
          </a:p>
          <a:p>
            <a:pPr indent="0" marL="0">
              <a:spcAft>
                <a:spcPts val="900"/>
              </a:spcAft>
              <a:buNone/>
            </a:pPr>
            <a:r>
              <a:rPr lang="en-US" sz="1350" dirty="0">
                <a:solidFill>
                  <a:srgbClr val="1B2A38"/>
                </a:solidFill>
                <a:latin typeface="Arial" pitchFamily="34" charset="0"/>
                <a:ea typeface="Arial" pitchFamily="34" charset="-122"/>
                <a:cs typeface="Arial" pitchFamily="34" charset="-120"/>
              </a:rPr>
              <a:t>Hubbard, D. W., &amp; Seiersen, R. (2016). How to measure anything in cybersecurity risk. Wiley.</a:t>
            </a:r>
            <a:endParaRPr lang="en-US" sz="1350" dirty="0"/>
          </a:p>
          <a:p>
            <a:pPr indent="0" marL="0">
              <a:buNone/>
            </a:pPr>
            <a:r>
              <a:rPr lang="en-US" sz="1350" dirty="0">
                <a:solidFill>
                  <a:srgbClr val="1B2A38"/>
                </a:solidFill>
                <a:latin typeface="Arial" pitchFamily="34" charset="0"/>
                <a:ea typeface="Arial" pitchFamily="34" charset="-122"/>
                <a:cs typeface="Arial" pitchFamily="34" charset="-120"/>
              </a:rPr>
              <a:t>Netflix, Inc. (2025). Q4 2024 shareholder letter.</a:t>
            </a:r>
            <a:endParaRPr lang="en-US" sz="1350" dirty="0"/>
          </a:p>
        </p:txBody>
      </p:sp>
      <p:sp>
        <p:nvSpPr>
          <p:cNvPr id="5" name="Shape 3"/>
          <p:cNvSpPr/>
          <p:nvPr/>
        </p:nvSpPr>
        <p:spPr>
          <a:xfrm>
            <a:off x="548640" y="4892040"/>
            <a:ext cx="11091672" cy="1097280"/>
          </a:xfrm>
          <a:prstGeom prst="roundRect">
            <a:avLst>
              <a:gd name="adj" fmla="val 7500"/>
            </a:avLst>
          </a:prstGeom>
          <a:solidFill>
            <a:srgbClr val="0E2A45"/>
          </a:solidFill>
          <a:ln/>
          <a:effectLst>
            <a:outerShdw sx="100000" sy="100000" kx="0" ky="0" algn="bl" rotWithShape="0" blurRad="101600" dist="38100" dir="5400000">
              <a:srgbClr val="000000">
                <a:alpha val="10000"/>
              </a:srgbClr>
            </a:outerShdw>
          </a:effectLst>
        </p:spPr>
      </p:sp>
      <p:sp>
        <p:nvSpPr>
          <p:cNvPr id="6" name="Text 4"/>
          <p:cNvSpPr/>
          <p:nvPr/>
        </p:nvSpPr>
        <p:spPr>
          <a:xfrm>
            <a:off x="548640" y="4892040"/>
            <a:ext cx="11091672" cy="1097280"/>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Thank you.  Questions?</a:t>
            </a:r>
            <a:endParaRPr lang="en-US" sz="2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ALY 6130 Signature Assessment</dc:title>
  <dc:subject>PptxGenJS Presentation</dc:subject>
  <dc:creator>Samuel Tweneboah-Kodua Nyamekye, Adebukola Fadina, Sandeep Kaur</dc:creator>
  <cp:lastModifiedBy>Samuel Tweneboah-Kodua Nyamekye, Adebukola Fadina, Sandeep Kaur</cp:lastModifiedBy>
  <cp:revision>1</cp:revision>
  <dcterms:created xsi:type="dcterms:W3CDTF">2026-06-26T05:54:04Z</dcterms:created>
  <dcterms:modified xsi:type="dcterms:W3CDTF">2026-06-26T05:54:04Z</dcterms:modified>
</cp:coreProperties>
</file>